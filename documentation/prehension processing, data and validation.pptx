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59"/>
  </p:notesMasterIdLst>
  <p:sldIdLst>
    <p:sldId id="319" r:id="rId2"/>
    <p:sldId id="320" r:id="rId3"/>
    <p:sldId id="321" r:id="rId4"/>
    <p:sldId id="328" r:id="rId5"/>
    <p:sldId id="333" r:id="rId6"/>
    <p:sldId id="341" r:id="rId7"/>
    <p:sldId id="342" r:id="rId8"/>
    <p:sldId id="334" r:id="rId9"/>
    <p:sldId id="335" r:id="rId10"/>
    <p:sldId id="336" r:id="rId11"/>
    <p:sldId id="337" r:id="rId12"/>
    <p:sldId id="327" r:id="rId13"/>
    <p:sldId id="322" r:id="rId14"/>
    <p:sldId id="329" r:id="rId15"/>
    <p:sldId id="330" r:id="rId16"/>
    <p:sldId id="331" r:id="rId17"/>
    <p:sldId id="332" r:id="rId18"/>
    <p:sldId id="346" r:id="rId19"/>
    <p:sldId id="338" r:id="rId20"/>
    <p:sldId id="340" r:id="rId21"/>
    <p:sldId id="343" r:id="rId22"/>
    <p:sldId id="344" r:id="rId23"/>
    <p:sldId id="345" r:id="rId24"/>
    <p:sldId id="379" r:id="rId25"/>
    <p:sldId id="339" r:id="rId26"/>
    <p:sldId id="347" r:id="rId27"/>
    <p:sldId id="348" r:id="rId28"/>
    <p:sldId id="353" r:id="rId29"/>
    <p:sldId id="349" r:id="rId30"/>
    <p:sldId id="350" r:id="rId31"/>
    <p:sldId id="351" r:id="rId32"/>
    <p:sldId id="352" r:id="rId33"/>
    <p:sldId id="355" r:id="rId34"/>
    <p:sldId id="358" r:id="rId35"/>
    <p:sldId id="356" r:id="rId36"/>
    <p:sldId id="357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54" r:id="rId49"/>
    <p:sldId id="370" r:id="rId50"/>
    <p:sldId id="374" r:id="rId51"/>
    <p:sldId id="371" r:id="rId52"/>
    <p:sldId id="372" r:id="rId53"/>
    <p:sldId id="373" r:id="rId54"/>
    <p:sldId id="375" r:id="rId55"/>
    <p:sldId id="376" r:id="rId56"/>
    <p:sldId id="377" r:id="rId57"/>
    <p:sldId id="378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" initials="A" lastIdx="2" clrIdx="0">
    <p:extLst>
      <p:ext uri="{19B8F6BF-5375-455C-9EA6-DF929625EA0E}">
        <p15:presenceInfo xmlns:p15="http://schemas.microsoft.com/office/powerpoint/2012/main" userId="Ant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EC407A"/>
    <a:srgbClr val="AC75D5"/>
    <a:srgbClr val="783293"/>
    <a:srgbClr val="489369"/>
    <a:srgbClr val="F8E792"/>
    <a:srgbClr val="423D8B"/>
    <a:srgbClr val="B34F4F"/>
    <a:srgbClr val="D50C0B"/>
    <a:srgbClr val="EC2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7" autoAdjust="0"/>
    <p:restoredTop sz="77128" autoAdjust="0"/>
  </p:normalViewPr>
  <p:slideViewPr>
    <p:cSldViewPr snapToGrid="0">
      <p:cViewPr varScale="1">
        <p:scale>
          <a:sx n="121" d="100"/>
          <a:sy n="121" d="100"/>
        </p:scale>
        <p:origin x="11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33FFF-AFBC-406C-931C-F46BA47B322E}" type="datetimeFigureOut">
              <a:rPr lang="en-US" smtClean="0"/>
              <a:t>2023-04-11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25B20-2449-4192-9137-1524B624B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7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following scripts needs to be updated to reflect slightly different folder structure, handle some frame drop-offs, and use Jarvis.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8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38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61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93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6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3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2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33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8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84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extrinsic 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25B20-2449-4192-9137-1524B624BB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24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41686-BBDE-4D50-AA23-C86E94C90B82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21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4851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 marL="932688" indent="-182880">
              <a:buClrTx/>
              <a:buFont typeface="Calibri" panose="020F0502020204030204" pitchFamily="34" charset="0"/>
              <a:buChar char="◦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5B1D-BC4F-47D7-B905-B8983E6BC85E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7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906E-24F0-4ADB-B169-98FA8D66E4B3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6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DB9D7-CE9F-4BE9-AC22-218BC0415694}" type="datetime1">
              <a:rPr lang="en-US" smtClean="0"/>
              <a:t>2023-04-11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2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4B42-21C1-4B0C-8EA1-4B67FBB241B3}" type="datetime1">
              <a:rPr lang="en-US" smtClean="0"/>
              <a:t>2023-04-11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7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FF62-C5C6-4AB7-AAE9-0D9130BF006D}" type="datetime1">
              <a:rPr lang="en-US" smtClean="0"/>
              <a:t>2023-04-11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1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A33E1-8F83-4459-B018-AF16E3CA328A}" type="datetime1">
              <a:rPr lang="en-US" smtClean="0"/>
              <a:t>2023-04-11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Outline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9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33FB707-2C7F-4DA3-9F13-41D6BE2ED3CF}" type="datetime1">
              <a:rPr lang="en-US" smtClean="0"/>
              <a:t>2023-04-11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8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6822-D604-4838-94B0-0225A6DD6998}" type="datetime1">
              <a:rPr lang="en-US" smtClean="0"/>
              <a:t>2023-04-11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6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6792-1236-46C6-99C2-46A40A4E4C1C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9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16270-50B9-4D3B-952E-5EEF2EB68453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7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4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01264"/>
            <a:ext cx="10058400" cy="4567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DCBE6B3-82B0-4926-A77A-6381202194FA}" type="datetime1">
              <a:rPr lang="en-US" smtClean="0"/>
              <a:t>2023-04-11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F5258F1-B7C0-4515-BC48-347F171F4B6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081454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33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shbo/reporting_pool" TargetMode="External"/><Relationship Id="rId2" Type="http://schemas.openxmlformats.org/officeDocument/2006/relationships/hyperlink" Target="https://github.com/CMGreenspon/NCam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ishbo/timed_sparse_matri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shbo/DeepLabCut" TargetMode="External"/><Relationship Id="rId2" Type="http://schemas.openxmlformats.org/officeDocument/2006/relationships/hyperlink" Target="https://github.com/DeepLabCut/DeepLabCu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ishbo/opensim-cor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shbo/ms_arm_and_hand/blob/main/AAH%20Model/dofs.csv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nishbo/timed_sparse_matrix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file:///\\BENSMAIA-LAB\LabSharing\Stereognosis\DeepLabCut\CameraConfigs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file:///\\BENSMAIA-LAB\LabSharing\Stereognosis\DeepLabCut\CameraConfigs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8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25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54435D-45E5-4ED8-BD3A-97AF1CD68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58952"/>
            <a:ext cx="12192000" cy="3566160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Prehension data organization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4E829-BE11-A61B-52C2-816BB130B9E3}"/>
              </a:ext>
            </a:extLst>
          </p:cNvPr>
          <p:cNvSpPr txBox="1"/>
          <p:nvPr/>
        </p:nvSpPr>
        <p:spPr>
          <a:xfrm>
            <a:off x="5465058" y="634365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2023-03-22</a:t>
            </a:r>
          </a:p>
        </p:txBody>
      </p:sp>
    </p:spTree>
    <p:extLst>
      <p:ext uri="{BB962C8B-B14F-4D97-AF65-F5344CB8AC3E}">
        <p14:creationId xmlns:p14="http://schemas.microsoft.com/office/powerpoint/2010/main" val="290155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Diagram&#10;&#10;Description automatically generated">
            <a:extLst>
              <a:ext uri="{FF2B5EF4-FFF2-40B4-BE49-F238E27FC236}">
                <a16:creationId xmlns:a16="http://schemas.microsoft.com/office/drawing/2014/main" id="{B6195FEA-C094-ED24-95A8-013457DCA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416" y="1081454"/>
            <a:ext cx="9678153" cy="577654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F8FD72-CC3E-0E4C-A73C-454613B2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84FB-666E-2A41-9822-8DC2A54C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9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FD72-CC3E-0E4C-A73C-454613B2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– major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84FB-666E-2A41-9822-8DC2A54C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1D12DD1-F8C4-821F-8CE5-B940D4003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68" y="1081454"/>
            <a:ext cx="10064701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4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C5223A0-F2FA-63CA-7060-0F9A242962EA}"/>
              </a:ext>
            </a:extLst>
          </p:cNvPr>
          <p:cNvSpPr/>
          <p:nvPr/>
        </p:nvSpPr>
        <p:spPr>
          <a:xfrm>
            <a:off x="6850117" y="905207"/>
            <a:ext cx="4658711" cy="391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C293D-584B-A6E4-A156-5602A5BD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– folder structure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6750FD-EABD-D9EF-09E7-A01075DDF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1760" y="1820942"/>
            <a:ext cx="1937144" cy="32795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BEE4B-964E-D070-64B2-D7E87908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80924-C327-2F9C-ECC3-9BD7A67F9EAC}"/>
              </a:ext>
            </a:extLst>
          </p:cNvPr>
          <p:cNvSpPr txBox="1"/>
          <p:nvPr/>
        </p:nvSpPr>
        <p:spPr>
          <a:xfrm>
            <a:off x="971550" y="1451610"/>
            <a:ext cx="202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Animal and Implant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516B19-A77E-438C-19F1-E2B6AA7B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29" y="1851905"/>
            <a:ext cx="2216121" cy="4202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193EFA-CD15-AE44-E64B-47B00FA32963}"/>
              </a:ext>
            </a:extLst>
          </p:cNvPr>
          <p:cNvSpPr txBox="1"/>
          <p:nvPr/>
        </p:nvSpPr>
        <p:spPr>
          <a:xfrm>
            <a:off x="3996798" y="145161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Session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C3196-6848-8B3A-DE09-2A7F653CD9E5}"/>
              </a:ext>
            </a:extLst>
          </p:cNvPr>
          <p:cNvSpPr txBox="1"/>
          <p:nvPr/>
        </p:nvSpPr>
        <p:spPr>
          <a:xfrm>
            <a:off x="2622613" y="6308374"/>
            <a:ext cx="307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 in standard format + note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D860C1-BA6F-65B3-84C8-2081D571E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760" y="5072398"/>
            <a:ext cx="2027681" cy="7948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7A8385-F826-5363-67BF-3415B3F4A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918" y="184866"/>
            <a:ext cx="2586939" cy="656142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0A847AB-1F4A-BBE1-3ADD-12ABC5E9132F}"/>
              </a:ext>
            </a:extLst>
          </p:cNvPr>
          <p:cNvSpPr/>
          <p:nvPr/>
        </p:nvSpPr>
        <p:spPr>
          <a:xfrm>
            <a:off x="8262497" y="225027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74AA72-D352-52B5-552F-E8BBC1731C9B}"/>
              </a:ext>
            </a:extLst>
          </p:cNvPr>
          <p:cNvSpPr/>
          <p:nvPr/>
        </p:nvSpPr>
        <p:spPr>
          <a:xfrm>
            <a:off x="8262497" y="479819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84A047-AA40-2BAC-16FB-5F56B696FE09}"/>
              </a:ext>
            </a:extLst>
          </p:cNvPr>
          <p:cNvSpPr/>
          <p:nvPr/>
        </p:nvSpPr>
        <p:spPr>
          <a:xfrm>
            <a:off x="8262496" y="731786"/>
            <a:ext cx="173421" cy="17342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372153-F55E-6664-4DE6-D06BCEE720D2}"/>
              </a:ext>
            </a:extLst>
          </p:cNvPr>
          <p:cNvSpPr/>
          <p:nvPr/>
        </p:nvSpPr>
        <p:spPr>
          <a:xfrm>
            <a:off x="8262496" y="983753"/>
            <a:ext cx="173421" cy="1734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7BF39C-43B4-5D95-87EE-F5641CCA1002}"/>
              </a:ext>
            </a:extLst>
          </p:cNvPr>
          <p:cNvSpPr/>
          <p:nvPr/>
        </p:nvSpPr>
        <p:spPr>
          <a:xfrm>
            <a:off x="8262496" y="1238545"/>
            <a:ext cx="173421" cy="17342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245653-6838-4559-4FEF-E77E60336F4C}"/>
              </a:ext>
            </a:extLst>
          </p:cNvPr>
          <p:cNvSpPr/>
          <p:nvPr/>
        </p:nvSpPr>
        <p:spPr>
          <a:xfrm>
            <a:off x="8262495" y="1490512"/>
            <a:ext cx="173421" cy="17342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CA6959-2CBC-5CCF-3F22-211FCC931E58}"/>
              </a:ext>
            </a:extLst>
          </p:cNvPr>
          <p:cNvSpPr/>
          <p:nvPr/>
        </p:nvSpPr>
        <p:spPr>
          <a:xfrm>
            <a:off x="8258671" y="1716237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5C1F1F-760D-38A4-40D5-CD92618E2C5B}"/>
              </a:ext>
            </a:extLst>
          </p:cNvPr>
          <p:cNvSpPr/>
          <p:nvPr/>
        </p:nvSpPr>
        <p:spPr>
          <a:xfrm>
            <a:off x="8258671" y="1971029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40164F-B788-3EA8-2051-44C3D7431D76}"/>
              </a:ext>
            </a:extLst>
          </p:cNvPr>
          <p:cNvSpPr/>
          <p:nvPr/>
        </p:nvSpPr>
        <p:spPr>
          <a:xfrm>
            <a:off x="8258670" y="2222996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F0A57EF-94D1-1ED4-3FF4-60B7D6835847}"/>
              </a:ext>
            </a:extLst>
          </p:cNvPr>
          <p:cNvSpPr/>
          <p:nvPr/>
        </p:nvSpPr>
        <p:spPr>
          <a:xfrm>
            <a:off x="8258670" y="2451314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A9F81C-DF45-176B-1C3E-4E1C0138FF0A}"/>
              </a:ext>
            </a:extLst>
          </p:cNvPr>
          <p:cNvSpPr/>
          <p:nvPr/>
        </p:nvSpPr>
        <p:spPr>
          <a:xfrm>
            <a:off x="8258670" y="2706106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DBDBB3-8879-C99D-283E-400AF2246481}"/>
              </a:ext>
            </a:extLst>
          </p:cNvPr>
          <p:cNvSpPr/>
          <p:nvPr/>
        </p:nvSpPr>
        <p:spPr>
          <a:xfrm>
            <a:off x="8258669" y="2950190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004787-8C73-B92E-1F1D-5290029A98D4}"/>
              </a:ext>
            </a:extLst>
          </p:cNvPr>
          <p:cNvSpPr/>
          <p:nvPr/>
        </p:nvSpPr>
        <p:spPr>
          <a:xfrm>
            <a:off x="8258672" y="3200083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38B174E-97BC-AE87-2F98-6190137FCFFF}"/>
              </a:ext>
            </a:extLst>
          </p:cNvPr>
          <p:cNvSpPr/>
          <p:nvPr/>
        </p:nvSpPr>
        <p:spPr>
          <a:xfrm>
            <a:off x="8258672" y="3454875"/>
            <a:ext cx="173421" cy="17342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5F0A023-BF73-3ACB-8DC3-4B9AE73C7054}"/>
              </a:ext>
            </a:extLst>
          </p:cNvPr>
          <p:cNvSpPr/>
          <p:nvPr/>
        </p:nvSpPr>
        <p:spPr>
          <a:xfrm>
            <a:off x="8258671" y="3706842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A9592E9-B6B4-9948-B571-76FD626BCBFC}"/>
              </a:ext>
            </a:extLst>
          </p:cNvPr>
          <p:cNvSpPr/>
          <p:nvPr/>
        </p:nvSpPr>
        <p:spPr>
          <a:xfrm>
            <a:off x="8258671" y="3958809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3AD52F-AE11-5BE0-FA7E-3153169287EB}"/>
              </a:ext>
            </a:extLst>
          </p:cNvPr>
          <p:cNvSpPr/>
          <p:nvPr/>
        </p:nvSpPr>
        <p:spPr>
          <a:xfrm>
            <a:off x="8258671" y="4213601"/>
            <a:ext cx="173421" cy="1734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492BF13-015C-C8BB-E3E9-79308BDFD949}"/>
              </a:ext>
            </a:extLst>
          </p:cNvPr>
          <p:cNvSpPr/>
          <p:nvPr/>
        </p:nvSpPr>
        <p:spPr>
          <a:xfrm>
            <a:off x="8258670" y="4465568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CF3386-3794-1B9B-81BB-99AB7D5B9F0E}"/>
              </a:ext>
            </a:extLst>
          </p:cNvPr>
          <p:cNvSpPr/>
          <p:nvPr/>
        </p:nvSpPr>
        <p:spPr>
          <a:xfrm>
            <a:off x="8258670" y="4703363"/>
            <a:ext cx="173421" cy="17342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3A3F9C9-4EFF-3743-4DDE-DFF1E9A1EFFF}"/>
              </a:ext>
            </a:extLst>
          </p:cNvPr>
          <p:cNvSpPr/>
          <p:nvPr/>
        </p:nvSpPr>
        <p:spPr>
          <a:xfrm>
            <a:off x="8258670" y="4958155"/>
            <a:ext cx="173421" cy="173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7CC8D5-8D88-79B0-AC79-F404C08BFC90}"/>
              </a:ext>
            </a:extLst>
          </p:cNvPr>
          <p:cNvSpPr/>
          <p:nvPr/>
        </p:nvSpPr>
        <p:spPr>
          <a:xfrm>
            <a:off x="8258669" y="5210122"/>
            <a:ext cx="173421" cy="17342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5DF54FE-677B-28DC-2149-C273A49C2D85}"/>
              </a:ext>
            </a:extLst>
          </p:cNvPr>
          <p:cNvSpPr/>
          <p:nvPr/>
        </p:nvSpPr>
        <p:spPr>
          <a:xfrm>
            <a:off x="8258669" y="5462089"/>
            <a:ext cx="173421" cy="17342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35DE800-77E1-0AD9-2EFB-AB25728520AB}"/>
              </a:ext>
            </a:extLst>
          </p:cNvPr>
          <p:cNvSpPr/>
          <p:nvPr/>
        </p:nvSpPr>
        <p:spPr>
          <a:xfrm>
            <a:off x="8258669" y="5716881"/>
            <a:ext cx="173421" cy="17342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3FFC56-64D9-93F7-24AB-D5621E5F4CD5}"/>
              </a:ext>
            </a:extLst>
          </p:cNvPr>
          <p:cNvSpPr/>
          <p:nvPr/>
        </p:nvSpPr>
        <p:spPr>
          <a:xfrm>
            <a:off x="8258668" y="5968848"/>
            <a:ext cx="173421" cy="17342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E99EC5C-8A9B-A290-75DD-2DB1800575A5}"/>
              </a:ext>
            </a:extLst>
          </p:cNvPr>
          <p:cNvSpPr/>
          <p:nvPr/>
        </p:nvSpPr>
        <p:spPr>
          <a:xfrm>
            <a:off x="8258669" y="6189602"/>
            <a:ext cx="173421" cy="1734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00DD3C-18F7-3191-11CF-5E7256619166}"/>
              </a:ext>
            </a:extLst>
          </p:cNvPr>
          <p:cNvSpPr/>
          <p:nvPr/>
        </p:nvSpPr>
        <p:spPr>
          <a:xfrm>
            <a:off x="8258668" y="6441569"/>
            <a:ext cx="173421" cy="1734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6DD8A6-CF64-2838-ACB7-91CDDBE92D62}"/>
              </a:ext>
            </a:extLst>
          </p:cNvPr>
          <p:cNvSpPr txBox="1"/>
          <p:nvPr/>
        </p:nvSpPr>
        <p:spPr>
          <a:xfrm>
            <a:off x="7123934" y="128346"/>
            <a:ext cx="11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768DB9-5939-892E-8613-7D2F7B1BFAB6}"/>
              </a:ext>
            </a:extLst>
          </p:cNvPr>
          <p:cNvSpPr txBox="1"/>
          <p:nvPr/>
        </p:nvSpPr>
        <p:spPr>
          <a:xfrm>
            <a:off x="7712107" y="627922"/>
            <a:ext cx="53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197A24-2EB2-D369-6B8E-06FB5DE9B3FD}"/>
              </a:ext>
            </a:extLst>
          </p:cNvPr>
          <p:cNvSpPr txBox="1"/>
          <p:nvPr/>
        </p:nvSpPr>
        <p:spPr>
          <a:xfrm>
            <a:off x="7420425" y="88620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4638E-031D-495F-5067-F18C724F1614}"/>
              </a:ext>
            </a:extLst>
          </p:cNvPr>
          <p:cNvSpPr txBox="1"/>
          <p:nvPr/>
        </p:nvSpPr>
        <p:spPr>
          <a:xfrm>
            <a:off x="7573662" y="5092757"/>
            <a:ext cx="66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</a:t>
            </a:r>
          </a:p>
        </p:txBody>
      </p:sp>
    </p:spTree>
    <p:extLst>
      <p:ext uri="{BB962C8B-B14F-4D97-AF65-F5344CB8AC3E}">
        <p14:creationId xmlns:p14="http://schemas.microsoft.com/office/powerpoint/2010/main" val="333647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6E-136F-F4CC-6658-83EE51EE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notes –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2D52-508D-5F15-A8EE-0267BDBC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code specifies Python 3.7</a:t>
            </a:r>
          </a:p>
          <a:p>
            <a:r>
              <a:rPr lang="en-US" dirty="0"/>
              <a:t>DeepLabCut machine vision works on Python 3.8 </a:t>
            </a:r>
          </a:p>
          <a:p>
            <a:pPr lvl="1"/>
            <a:r>
              <a:rPr lang="en-US" dirty="0"/>
              <a:t>Depends on your install of CUDA/</a:t>
            </a:r>
            <a:r>
              <a:rPr lang="en-US" dirty="0" err="1"/>
              <a:t>cudnn</a:t>
            </a:r>
            <a:endParaRPr lang="en-US" dirty="0"/>
          </a:p>
          <a:p>
            <a:r>
              <a:rPr lang="en-US" dirty="0"/>
              <a:t>OpenSim IK requires custom OpenSim Python API and Python 3.8</a:t>
            </a:r>
          </a:p>
          <a:p>
            <a:endParaRPr lang="en-US" dirty="0"/>
          </a:p>
          <a:p>
            <a:r>
              <a:rPr lang="en-US" dirty="0"/>
              <a:t>MuJoCo executable was built for Windows x64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5C77-8483-6C14-3746-26A58F7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2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A29-1607-2844-1C31-94DD6F0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code/packages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1CD2-3FD0-9433-CCBA-7D8209264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NCams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https://github.com/CMGreenspon/NCams</a:t>
            </a:r>
            <a:endParaRPr lang="en-US" dirty="0"/>
          </a:p>
          <a:p>
            <a:pPr lvl="1"/>
            <a:r>
              <a:rPr lang="en-US" dirty="0"/>
              <a:t>Loading/saving files</a:t>
            </a:r>
          </a:p>
          <a:p>
            <a:pPr lvl="1"/>
            <a:r>
              <a:rPr lang="en-US" dirty="0"/>
              <a:t>Triangulation</a:t>
            </a:r>
          </a:p>
          <a:p>
            <a:r>
              <a:rPr lang="en-US" dirty="0"/>
              <a:t>Reporting pool: </a:t>
            </a:r>
            <a:r>
              <a:rPr lang="en-US" dirty="0">
                <a:hlinkClick r:id="rId3"/>
              </a:rPr>
              <a:t>https://github.com/nishbo/reporting_pool</a:t>
            </a:r>
            <a:endParaRPr lang="en-US" dirty="0"/>
          </a:p>
          <a:p>
            <a:pPr lvl="1"/>
            <a:r>
              <a:rPr lang="en-US" dirty="0"/>
              <a:t>Tracking parallel processes and reporting on errors</a:t>
            </a:r>
          </a:p>
          <a:p>
            <a:r>
              <a:rPr lang="en-US" dirty="0"/>
              <a:t>TSM: </a:t>
            </a:r>
            <a:r>
              <a:rPr lang="en-US" dirty="0">
                <a:hlinkClick r:id="rId4"/>
              </a:rPr>
              <a:t>https://github.com/nishbo/timed_sparse_matrix</a:t>
            </a:r>
            <a:endParaRPr lang="en-US" dirty="0"/>
          </a:p>
          <a:p>
            <a:pPr lvl="1"/>
            <a:r>
              <a:rPr lang="en-US" dirty="0"/>
              <a:t>Importing and exporting timed sparce matrices from C++/MATLAB/Python</a:t>
            </a:r>
          </a:p>
          <a:p>
            <a:pPr lvl="1"/>
            <a:r>
              <a:rPr lang="en-US" dirty="0"/>
              <a:t>Needed for any work with pressure sensor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0D6BE-73D3-6D2D-AF1A-36738039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9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A29-1607-2844-1C31-94DD6F0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code/packages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1CD2-3FD0-9433-CCBA-7D8209264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DeepLabCut: </a:t>
            </a:r>
            <a:r>
              <a:rPr lang="en-US" dirty="0">
                <a:hlinkClick r:id="rId2"/>
              </a:rPr>
              <a:t>https://github.com/DeepLabCut/DeepLabCut</a:t>
            </a:r>
            <a:endParaRPr lang="en-US" dirty="0"/>
          </a:p>
          <a:p>
            <a:pPr lvl="1"/>
            <a:r>
              <a:rPr lang="en-US" dirty="0"/>
              <a:t>Install the latest version for applying</a:t>
            </a:r>
          </a:p>
          <a:p>
            <a:pPr lvl="1"/>
            <a:r>
              <a:rPr lang="en-US" dirty="0"/>
              <a:t>Use our fork for creating training data: </a:t>
            </a:r>
            <a:r>
              <a:rPr lang="en-US" dirty="0">
                <a:hlinkClick r:id="rId3"/>
              </a:rPr>
              <a:t>https://github.com/nishbo/DeepLabCut</a:t>
            </a:r>
            <a:endParaRPr lang="en-US" dirty="0"/>
          </a:p>
          <a:p>
            <a:r>
              <a:rPr lang="en-US" dirty="0"/>
              <a:t>OpenSim:</a:t>
            </a:r>
          </a:p>
          <a:p>
            <a:pPr lvl="1"/>
            <a:r>
              <a:rPr lang="en-US" dirty="0"/>
              <a:t>Compile from source, build Python 3.8</a:t>
            </a:r>
          </a:p>
          <a:p>
            <a:pPr lvl="1"/>
            <a:r>
              <a:rPr lang="en-US" dirty="0"/>
              <a:t>Our fork: </a:t>
            </a:r>
            <a:r>
              <a:rPr lang="en-US" dirty="0">
                <a:hlinkClick r:id="rId4"/>
              </a:rPr>
              <a:t>https://github.com/nishbo/opensim-core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0D6BE-73D3-6D2D-AF1A-36738039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62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6E-136F-F4CC-6658-83EE51EE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notes – presets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2D52-508D-5F15-A8EE-0267BDBC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code runs from command line</a:t>
            </a:r>
          </a:p>
          <a:p>
            <a:r>
              <a:rPr lang="en-US" dirty="0"/>
              <a:t>First argument should be preset – full or short name from preset.py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5C77-8483-6C14-3746-26A58F7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7AD9-BE3E-4771-2E03-322FE6AC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preset.py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5F46DE-0DBD-E987-C378-48F2AF6EA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3246" y="1437684"/>
            <a:ext cx="5811061" cy="41534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2C62D-F53C-653B-8AF8-236D9CE7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382293-5718-6723-0E4E-568C51AF0533}"/>
              </a:ext>
            </a:extLst>
          </p:cNvPr>
          <p:cNvSpPr txBox="1">
            <a:spLocks/>
          </p:cNvSpPr>
          <p:nvPr/>
        </p:nvSpPr>
        <p:spPr>
          <a:xfrm>
            <a:off x="1097280" y="1301264"/>
            <a:ext cx="4699504" cy="461080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Name</a:t>
            </a:r>
          </a:p>
          <a:p>
            <a:r>
              <a:rPr lang="en-US" dirty="0"/>
              <a:t>Left/right hand</a:t>
            </a:r>
          </a:p>
          <a:p>
            <a:r>
              <a:rPr lang="en-US" dirty="0"/>
              <a:t>Location of data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  <a:p>
            <a:r>
              <a:rPr lang="en-US" dirty="0"/>
              <a:t>Most fields are only needed to generate the session-specific meta information.</a:t>
            </a:r>
          </a:p>
          <a:p>
            <a:r>
              <a:rPr lang="en-US" dirty="0"/>
              <a:t>Helps switch between animals.</a:t>
            </a:r>
          </a:p>
        </p:txBody>
      </p:sp>
    </p:spTree>
    <p:extLst>
      <p:ext uri="{BB962C8B-B14F-4D97-AF65-F5344CB8AC3E}">
        <p14:creationId xmlns:p14="http://schemas.microsoft.com/office/powerpoint/2010/main" val="158915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6E-136F-F4CC-6658-83EE51EE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notes – other </a:t>
            </a:r>
            <a:r>
              <a:rPr lang="en-US" dirty="0" err="1"/>
              <a:t>cmd</a:t>
            </a:r>
            <a:r>
              <a:rPr lang="en-US" dirty="0"/>
              <a:t>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2D52-508D-5F15-A8EE-0267BDBC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rest of accepting arguments can be seen using </a:t>
            </a:r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--help </a:t>
            </a:r>
            <a:r>
              <a:rPr lang="en-US" dirty="0"/>
              <a:t>keyword.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5C77-8483-6C14-3746-26A58F7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B2675-B9C9-938A-51C1-0B348A7F6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2134831"/>
            <a:ext cx="804022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7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6E-136F-F4CC-6658-83EE51EE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notes – other </a:t>
            </a:r>
            <a:r>
              <a:rPr lang="en-US" dirty="0" err="1"/>
              <a:t>cmd</a:t>
            </a:r>
            <a:r>
              <a:rPr lang="en-US" dirty="0"/>
              <a:t>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2D52-508D-5F15-A8EE-0267BDBC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rest of accepting arguments can be seen using </a:t>
            </a:r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--help </a:t>
            </a:r>
            <a:r>
              <a:rPr lang="en-US" dirty="0"/>
              <a:t>keyword.</a:t>
            </a:r>
          </a:p>
          <a:p>
            <a:r>
              <a:rPr lang="en-US" dirty="0"/>
              <a:t>Common arguments: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--sessions</a:t>
            </a:r>
            <a:r>
              <a:rPr lang="en-US" dirty="0"/>
              <a:t>: one or more sessions to process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--trials</a:t>
            </a:r>
            <a:r>
              <a:rPr lang="en-US" dirty="0"/>
              <a:t>: one or more trials to process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--overwrite</a:t>
            </a:r>
            <a:r>
              <a:rPr lang="en-US" dirty="0"/>
              <a:t>: if the product files exist, they will be overwritten. Use with caution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--processes</a:t>
            </a:r>
            <a:r>
              <a:rPr lang="en-US" dirty="0"/>
              <a:t>: number of parallel processes to use. Defaults to a lot.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5C77-8483-6C14-3746-26A58F7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9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BF1C-3C6E-E154-55B8-C6664664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Steps in detail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F3EE-0797-7E21-B67B-FD2B2EDE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preprocessing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6FEB-5D1B-C49A-2535-8140455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616D-836F-55B4-B25C-6A3E2870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meta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AB895-1943-7E28-F78F-677A814DA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create_meta.py:</a:t>
            </a:r>
          </a:p>
          <a:p>
            <a:endParaRPr lang="en-US" dirty="0">
              <a:ea typeface="Fira Mono" panose="020B0509050000020004" pitchFamily="49" charset="0"/>
            </a:endParaRPr>
          </a:p>
          <a:p>
            <a:r>
              <a:rPr lang="en-US" dirty="0">
                <a:ea typeface="Fira Mono" panose="020B0509050000020004" pitchFamily="49" charset="0"/>
              </a:rPr>
              <a:t>Reads logs, identifies cameras, repackages data, generates:</a:t>
            </a:r>
          </a:p>
          <a:p>
            <a:pPr lvl="1"/>
            <a:r>
              <a:rPr lang="en-US" dirty="0">
                <a:ea typeface="Fira Mono" panose="020B0509050000020004" pitchFamily="49" charset="0"/>
              </a:rPr>
              <a:t>meta_dof.csv – information on degrees of freedom;</a:t>
            </a:r>
          </a:p>
          <a:p>
            <a:pPr lvl="1"/>
            <a:r>
              <a:rPr lang="en-US" dirty="0">
                <a:ea typeface="Fira Mono" panose="020B0509050000020004" pitchFamily="49" charset="0"/>
              </a:rPr>
              <a:t>meta_object.csv – lists all different object properties;</a:t>
            </a:r>
          </a:p>
          <a:p>
            <a:pPr lvl="1"/>
            <a:r>
              <a:rPr lang="en-US" dirty="0">
                <a:ea typeface="Fira Mono" panose="020B0509050000020004" pitchFamily="49" charset="0"/>
              </a:rPr>
              <a:t>meta_session.csv – lists all trials, their objects and timings;</a:t>
            </a:r>
          </a:p>
          <a:p>
            <a:pPr lvl="1"/>
            <a:r>
              <a:rPr lang="en-US" dirty="0" err="1">
                <a:ea typeface="Fira Mono" panose="020B0509050000020004" pitchFamily="49" charset="0"/>
              </a:rPr>
              <a:t>meta_structure.json</a:t>
            </a:r>
            <a:r>
              <a:rPr lang="en-US" dirty="0">
                <a:ea typeface="Fira Mono" panose="020B0509050000020004" pitchFamily="49" charset="0"/>
              </a:rPr>
              <a:t> – directories, names of sensors, calibration,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EC670-A183-11B6-7D8B-BEC4572A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1FF9-AF0D-E84B-7DE3-05334FA0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meta_structure.json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AE1BC-263D-F752-AF1E-89133798B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4699504" cy="45678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Relative directories</a:t>
            </a:r>
          </a:p>
          <a:p>
            <a:r>
              <a:rPr lang="en-US" dirty="0"/>
              <a:t>Filename templates</a:t>
            </a:r>
          </a:p>
          <a:p>
            <a:r>
              <a:rPr lang="en-US" dirty="0"/>
              <a:t>Definitions copied from preset</a:t>
            </a:r>
          </a:p>
          <a:p>
            <a:r>
              <a:rPr lang="en-US" dirty="0"/>
              <a:t>Session-specific model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0C085-E598-61A8-FEA8-390C5165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E1C51-4BE8-4C59-1D07-D3806AED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784" y="0"/>
            <a:ext cx="6305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34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E78D-62FA-DDCC-1704-666F527F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meta_dof.csv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FF4EF0-2D9E-DB20-5DAE-7B4AF718E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5842" y="0"/>
            <a:ext cx="3050628" cy="67920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D3C20-5B80-5D78-D10A-57845E91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07FCB2-0788-B745-A5F1-51C69089F881}"/>
              </a:ext>
            </a:extLst>
          </p:cNvPr>
          <p:cNvSpPr txBox="1">
            <a:spLocks/>
          </p:cNvSpPr>
          <p:nvPr/>
        </p:nvSpPr>
        <p:spPr>
          <a:xfrm>
            <a:off x="1097280" y="1301263"/>
            <a:ext cx="4699504" cy="527013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Maximum allowed ROM</a:t>
            </a:r>
          </a:p>
          <a:p>
            <a:r>
              <a:rPr lang="en-US" dirty="0"/>
              <a:t>Is the DOF rotational or translational</a:t>
            </a:r>
          </a:p>
          <a:p>
            <a:endParaRPr lang="en-US" dirty="0"/>
          </a:p>
          <a:p>
            <a:r>
              <a:rPr lang="en-US" dirty="0"/>
              <a:t>For description of DOFs, see:</a:t>
            </a:r>
          </a:p>
          <a:p>
            <a:r>
              <a:rPr lang="en-US" dirty="0">
                <a:hlinkClick r:id="rId3"/>
              </a:rPr>
              <a:t>https://github.com/nishbo/ms_arm_and_hand/blob/main/AAH%20Model/dofs.csv</a:t>
            </a:r>
            <a:endParaRPr lang="en-US" dirty="0"/>
          </a:p>
          <a:p>
            <a:r>
              <a:rPr lang="en-US" u="sng" dirty="0"/>
              <a:t>DO NOT USE</a:t>
            </a:r>
            <a:r>
              <a:rPr lang="en-US" dirty="0"/>
              <a:t> dependent (_d) DOFs in analysis</a:t>
            </a:r>
          </a:p>
        </p:txBody>
      </p:sp>
    </p:spTree>
    <p:extLst>
      <p:ext uri="{BB962C8B-B14F-4D97-AF65-F5344CB8AC3E}">
        <p14:creationId xmlns:p14="http://schemas.microsoft.com/office/powerpoint/2010/main" val="2125252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D773-C6E2-8738-B59A-3C9EE59E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meta_object.csv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CBC799-5292-23D1-B96C-3CDD643A2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9054" y="1487000"/>
            <a:ext cx="4013390" cy="45672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09DF-5B59-638F-F4EB-83DBDE7D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672F78-BA9B-F490-2C59-CE23BD88B21E}"/>
              </a:ext>
            </a:extLst>
          </p:cNvPr>
          <p:cNvSpPr txBox="1">
            <a:spLocks/>
          </p:cNvSpPr>
          <p:nvPr/>
        </p:nvSpPr>
        <p:spPr>
          <a:xfrm>
            <a:off x="1097280" y="1301264"/>
            <a:ext cx="4699504" cy="4567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Reference table for object ID and its description</a:t>
            </a:r>
          </a:p>
        </p:txBody>
      </p:sp>
    </p:spTree>
    <p:extLst>
      <p:ext uri="{BB962C8B-B14F-4D97-AF65-F5344CB8AC3E}">
        <p14:creationId xmlns:p14="http://schemas.microsoft.com/office/powerpoint/2010/main" val="1134162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D773-C6E2-8738-B59A-3C9EE59E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meta_session.csv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09DF-5B59-638F-F4EB-83DBDE7D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B4484-17AB-0DC6-54E4-2A746CD9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217" y="0"/>
            <a:ext cx="331631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BB8EB0-6777-541D-2581-429573C42535}"/>
              </a:ext>
            </a:extLst>
          </p:cNvPr>
          <p:cNvSpPr txBox="1">
            <a:spLocks/>
          </p:cNvSpPr>
          <p:nvPr/>
        </p:nvSpPr>
        <p:spPr>
          <a:xfrm>
            <a:off x="1097280" y="1301264"/>
            <a:ext cx="4699504" cy="4567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Reference table for:</a:t>
            </a:r>
          </a:p>
          <a:p>
            <a:pPr lvl="1"/>
            <a:r>
              <a:rPr lang="en-US" dirty="0"/>
              <a:t>trial number</a:t>
            </a:r>
          </a:p>
          <a:p>
            <a:pPr lvl="1"/>
            <a:r>
              <a:rPr lang="en-US" dirty="0"/>
              <a:t>object ID</a:t>
            </a:r>
          </a:p>
          <a:p>
            <a:pPr lvl="1"/>
            <a:r>
              <a:rPr lang="en-US" dirty="0"/>
              <a:t>some timing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D45A-639B-BE91-6AC2-7A2187F4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2177E-B0DC-A91A-A29E-2844C1F5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rename_folders.py</a:t>
            </a:r>
          </a:p>
          <a:p>
            <a:pPr lvl="1"/>
            <a:r>
              <a:rPr lang="en-US" dirty="0"/>
              <a:t>Changes the names of some folders in each session.</a:t>
            </a:r>
          </a:p>
          <a:p>
            <a:pPr lvl="1"/>
            <a:r>
              <a:rPr lang="en-US" dirty="0"/>
              <a:t>Useful when structure of data has changed, e.g. </a:t>
            </a:r>
            <a:r>
              <a:rPr lang="en-US" dirty="0" err="1"/>
              <a:t>processed_sensors</a:t>
            </a:r>
            <a:r>
              <a:rPr lang="en-US" dirty="0"/>
              <a:t> -&gt; </a:t>
            </a:r>
            <a:r>
              <a:rPr lang="en-US" dirty="0" err="1"/>
              <a:t>transformed_sensors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D1D63-2440-C7F4-BFBF-719E7755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6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A5C148-42D7-B176-C7A1-1F2D304FBC6A}"/>
              </a:ext>
            </a:extLst>
          </p:cNvPr>
          <p:cNvSpPr/>
          <p:nvPr/>
        </p:nvSpPr>
        <p:spPr>
          <a:xfrm>
            <a:off x="10310648" y="33090"/>
            <a:ext cx="1805152" cy="1622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50D409-2702-C09D-41EC-3324D8A95098}"/>
              </a:ext>
            </a:extLst>
          </p:cNvPr>
          <p:cNvGrpSpPr/>
          <p:nvPr/>
        </p:nvGrpSpPr>
        <p:grpSpPr>
          <a:xfrm>
            <a:off x="10393060" y="115760"/>
            <a:ext cx="1638845" cy="1480341"/>
            <a:chOff x="9455876" y="147291"/>
            <a:chExt cx="1638845" cy="1480341"/>
          </a:xfrm>
        </p:grpSpPr>
        <p:pic>
          <p:nvPicPr>
            <p:cNvPr id="18" name="Picture 17" descr="Diagram&#10;&#10;Description automatically generated">
              <a:extLst>
                <a:ext uri="{FF2B5EF4-FFF2-40B4-BE49-F238E27FC236}">
                  <a16:creationId xmlns:a16="http://schemas.microsoft.com/office/drawing/2014/main" id="{C9CB0223-6A75-12F6-5F45-7C457361F5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923"/>
            <a:stretch/>
          </p:blipFill>
          <p:spPr>
            <a:xfrm>
              <a:off x="9455878" y="147291"/>
              <a:ext cx="1638842" cy="1480341"/>
            </a:xfrm>
            <a:prstGeom prst="rect">
              <a:avLst/>
            </a:prstGeom>
            <a:noFill/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A46B4F2-252C-F7DA-8EE2-2E9F875E3A37}"/>
                </a:ext>
              </a:extLst>
            </p:cNvPr>
            <p:cNvSpPr/>
            <p:nvPr/>
          </p:nvSpPr>
          <p:spPr>
            <a:xfrm>
              <a:off x="9455876" y="147292"/>
              <a:ext cx="1638842" cy="148034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955EA68B-F081-99F9-9973-A6837825CA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56" t="17208" r="33922" b="48713"/>
            <a:stretch/>
          </p:blipFill>
          <p:spPr>
            <a:xfrm>
              <a:off x="10484069" y="402022"/>
              <a:ext cx="610652" cy="50449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86ABF1C-3C6E-E154-55B8-C6664664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Steps in detail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F3EE-0797-7E21-B67B-FD2B2EDE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pressure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6FEB-5D1B-C49A-2535-8140455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55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data from </a:t>
            </a:r>
            <a:r>
              <a:rPr lang="en-US" dirty="0" err="1"/>
              <a:t>TekScan</a:t>
            </a:r>
            <a:r>
              <a:rPr lang="en-US" dirty="0"/>
              <a:t>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Fira Mono" panose="020B0509050000020004" pitchFamily="49" charset="0"/>
                <a:ea typeface="Fira Mono" panose="020B0509050000020004" pitchFamily="49" charset="0"/>
              </a:rPr>
              <a:t>preprocessPressureSensorData.m</a:t>
            </a:r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:</a:t>
            </a:r>
          </a:p>
          <a:p>
            <a:endParaRPr lang="en-US" dirty="0">
              <a:ea typeface="Fira Mono" panose="020B0509050000020004" pitchFamily="49" charset="0"/>
            </a:endParaRPr>
          </a:p>
          <a:p>
            <a:r>
              <a:rPr lang="en-US" dirty="0">
                <a:ea typeface="Fira Mono" panose="020B0509050000020004" pitchFamily="49" charset="0"/>
              </a:rPr>
              <a:t>MATLAB – individual scripts for each trainer/monkey.</a:t>
            </a:r>
          </a:p>
          <a:p>
            <a:r>
              <a:rPr lang="en-US" dirty="0">
                <a:ea typeface="Fira Mono" panose="020B0509050000020004" pitchFamily="49" charset="0"/>
              </a:rPr>
              <a:t>Extracts calibrated frames and saves them to TSM files.</a:t>
            </a:r>
          </a:p>
          <a:p>
            <a:r>
              <a:rPr lang="en-US" dirty="0">
                <a:ea typeface="Fira Mono" panose="020B0509050000020004" pitchFamily="49" charset="0"/>
              </a:rPr>
              <a:t>Aligns so that time 0 is the TTL pulse ON.</a:t>
            </a:r>
          </a:p>
          <a:p>
            <a:r>
              <a:rPr lang="en-US" dirty="0">
                <a:ea typeface="Fira Mono" panose="020B0509050000020004" pitchFamily="49" charset="0"/>
              </a:rPr>
              <a:t>Very slow extraction from </a:t>
            </a:r>
            <a:r>
              <a:rPr lang="en-US" dirty="0" err="1">
                <a:ea typeface="Fira Mono" panose="020B0509050000020004" pitchFamily="49" charset="0"/>
              </a:rPr>
              <a:t>TekScan</a:t>
            </a:r>
            <a:r>
              <a:rPr lang="en-US" dirty="0">
                <a:ea typeface="Fira Mono" panose="020B0509050000020004" pitchFamily="49" charset="0"/>
              </a:rPr>
              <a:t>.</a:t>
            </a:r>
          </a:p>
          <a:p>
            <a:r>
              <a:rPr lang="en-US" dirty="0">
                <a:ea typeface="Fira Mono" panose="020B0509050000020004" pitchFamily="49" charset="0"/>
              </a:rPr>
              <a:t>Frames SHOULD consistently be at 300 fps, but there are frame drops.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20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D171F-EE51-DC7D-8C1A-A24BFC0ADE96}"/>
              </a:ext>
            </a:extLst>
          </p:cNvPr>
          <p:cNvSpPr/>
          <p:nvPr/>
        </p:nvSpPr>
        <p:spPr>
          <a:xfrm>
            <a:off x="10310648" y="33090"/>
            <a:ext cx="1805152" cy="1622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96BB4E-E5E8-6F4D-5FB0-CAEB118F712D}"/>
              </a:ext>
            </a:extLst>
          </p:cNvPr>
          <p:cNvGrpSpPr/>
          <p:nvPr/>
        </p:nvGrpSpPr>
        <p:grpSpPr>
          <a:xfrm>
            <a:off x="10393060" y="115760"/>
            <a:ext cx="1638845" cy="1480341"/>
            <a:chOff x="9455876" y="147291"/>
            <a:chExt cx="1638845" cy="1480341"/>
          </a:xfrm>
        </p:grpSpPr>
        <p:pic>
          <p:nvPicPr>
            <p:cNvPr id="19" name="Picture 18" descr="Diagram&#10;&#10;Description automatically generated">
              <a:extLst>
                <a:ext uri="{FF2B5EF4-FFF2-40B4-BE49-F238E27FC236}">
                  <a16:creationId xmlns:a16="http://schemas.microsoft.com/office/drawing/2014/main" id="{98FF0FDE-FC39-BAD0-02C4-543B233DED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923"/>
            <a:stretch/>
          </p:blipFill>
          <p:spPr>
            <a:xfrm>
              <a:off x="9455878" y="147291"/>
              <a:ext cx="1638842" cy="1480341"/>
            </a:xfrm>
            <a:prstGeom prst="rect">
              <a:avLst/>
            </a:prstGeom>
            <a:noFill/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1DCE17D-5A59-4059-AB47-8CCA9B7EF60B}"/>
                </a:ext>
              </a:extLst>
            </p:cNvPr>
            <p:cNvSpPr/>
            <p:nvPr/>
          </p:nvSpPr>
          <p:spPr>
            <a:xfrm>
              <a:off x="9455876" y="147292"/>
              <a:ext cx="1638842" cy="148034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Picture 20" descr="Diagram&#10;&#10;Description automatically generated">
              <a:extLst>
                <a:ext uri="{FF2B5EF4-FFF2-40B4-BE49-F238E27FC236}">
                  <a16:creationId xmlns:a16="http://schemas.microsoft.com/office/drawing/2014/main" id="{78E966D5-3275-ECF9-CD7F-509DDC1DAC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56" t="17208" r="33922" b="59363"/>
            <a:stretch/>
          </p:blipFill>
          <p:spPr>
            <a:xfrm>
              <a:off x="10484069" y="402022"/>
              <a:ext cx="610652" cy="34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96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1E5B-93F7-9407-67D5-B6FE870A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Sparce Matrix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9EA-1F9C-66A7-6AE6-A452B31B9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pressure sensor data</a:t>
            </a:r>
          </a:p>
          <a:p>
            <a:r>
              <a:rPr lang="en-US" dirty="0"/>
              <a:t>20-150 times decrease in disk space</a:t>
            </a:r>
          </a:p>
          <a:p>
            <a:r>
              <a:rPr lang="en-US" dirty="0">
                <a:hlinkClick r:id="rId2"/>
              </a:rPr>
              <a:t>https://github.com/nishbo/timed_sparse_matrix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7E477-F059-F1B5-DD32-B03F77C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80E4C-7793-888F-3F4C-1F95006BB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671"/>
          <a:stretch/>
        </p:blipFill>
        <p:spPr>
          <a:xfrm>
            <a:off x="615988" y="3248892"/>
            <a:ext cx="10446914" cy="29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25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pressure sensors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filter_pressure_sensors.py:</a:t>
            </a:r>
          </a:p>
          <a:p>
            <a:endParaRPr lang="en-US" dirty="0">
              <a:ea typeface="Fira Mono" panose="020B0509050000020004" pitchFamily="49" charset="0"/>
            </a:endParaRPr>
          </a:p>
          <a:p>
            <a:r>
              <a:rPr lang="en-US" dirty="0">
                <a:ea typeface="Fira Mono" panose="020B0509050000020004" pitchFamily="49" charset="0"/>
              </a:rPr>
              <a:t>If CSV exists (old style data), it is transformed into TSM and deleted.</a:t>
            </a:r>
          </a:p>
          <a:p>
            <a:r>
              <a:rPr lang="en-US" dirty="0">
                <a:ea typeface="Fira Mono" panose="020B0509050000020004" pitchFamily="49" charset="0"/>
              </a:rPr>
              <a:t>Filtering:</a:t>
            </a:r>
          </a:p>
          <a:p>
            <a:pPr lvl="1"/>
            <a:r>
              <a:rPr lang="en-US" dirty="0">
                <a:ea typeface="Fira Mono" panose="020B0509050000020004" pitchFamily="49" charset="0"/>
              </a:rPr>
              <a:t>Identify active touch period (&gt;= 5% of max total force).</a:t>
            </a:r>
          </a:p>
          <a:p>
            <a:pPr lvl="1"/>
            <a:r>
              <a:rPr lang="en-US" dirty="0">
                <a:ea typeface="Fira Mono" panose="020B0509050000020004" pitchFamily="49" charset="0"/>
              </a:rPr>
              <a:t>Find the 90</a:t>
            </a:r>
            <a:r>
              <a:rPr lang="en-US" baseline="30000" dirty="0">
                <a:ea typeface="Fira Mono" panose="020B0509050000020004" pitchFamily="49" charset="0"/>
              </a:rPr>
              <a:t>th</a:t>
            </a:r>
            <a:r>
              <a:rPr lang="en-US" dirty="0">
                <a:ea typeface="Fira Mono" panose="020B0509050000020004" pitchFamily="49" charset="0"/>
              </a:rPr>
              <a:t> percentile for each sensel outside of touch period.</a:t>
            </a:r>
          </a:p>
          <a:p>
            <a:pPr lvl="1"/>
            <a:r>
              <a:rPr lang="en-US" dirty="0"/>
              <a:t>Everything below that threshold is 0.</a:t>
            </a:r>
          </a:p>
          <a:p>
            <a:pPr lvl="1"/>
            <a:r>
              <a:rPr lang="en-US" dirty="0"/>
              <a:t>Median filter with 3 frames width.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22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E0B4FE-8AEC-77A0-212C-3DBBFE9A3690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66520FC-3EEE-6E82-F4F5-7BD857B9CF8F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72252C0-317D-3447-6478-36A6DE8EFED9}"/>
                </a:ext>
              </a:extLst>
            </p:cNvPr>
            <p:cNvGrpSpPr/>
            <p:nvPr/>
          </p:nvGrpSpPr>
          <p:grpSpPr>
            <a:xfrm>
              <a:off x="10393060" y="115760"/>
              <a:ext cx="1638845" cy="1480341"/>
              <a:chOff x="9455876" y="147291"/>
              <a:chExt cx="1638845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D3C3F034-57FA-2289-47E3-8743166C95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C5A475-C69C-1EF2-5DBC-0D2E42F3459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4" name="Picture 13" descr="Diagram&#10;&#10;Description automatically generated">
                <a:extLst>
                  <a:ext uri="{FF2B5EF4-FFF2-40B4-BE49-F238E27FC236}">
                    <a16:creationId xmlns:a16="http://schemas.microsoft.com/office/drawing/2014/main" id="{21CF8788-950A-9A58-DE6A-3B2C2ABB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456" t="29455" r="33922" b="48713"/>
              <a:stretch/>
            </p:blipFill>
            <p:spPr>
              <a:xfrm>
                <a:off x="10484069" y="583324"/>
                <a:ext cx="610652" cy="32319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60154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DF20-6B0E-5FBE-648F-FC1C4EE6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 of PS filtering effects</a:t>
            </a:r>
          </a:p>
        </p:txBody>
      </p:sp>
      <p:pic>
        <p:nvPicPr>
          <p:cNvPr id="5" name="mymovie_normal">
            <a:hlinkClick r:id="" action="ppaction://media"/>
            <a:extLst>
              <a:ext uri="{FF2B5EF4-FFF2-40B4-BE49-F238E27FC236}">
                <a16:creationId xmlns:a16="http://schemas.microsoft.com/office/drawing/2014/main" id="{B1CEAE5D-53C7-0762-731D-2030C023C5E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5338" y="1301750"/>
            <a:ext cx="8120062" cy="45672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C30DE-9BCA-4207-3D7B-DC9CEF45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A8029-01CA-59C5-8214-1367CF800766}"/>
              </a:ext>
            </a:extLst>
          </p:cNvPr>
          <p:cNvSpPr txBox="1"/>
          <p:nvPr/>
        </p:nvSpPr>
        <p:spPr>
          <a:xfrm>
            <a:off x="3704896" y="1301750"/>
            <a:ext cx="79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119DC-932B-B837-E4DC-AB05595CD256}"/>
              </a:ext>
            </a:extLst>
          </p:cNvPr>
          <p:cNvSpPr txBox="1"/>
          <p:nvPr/>
        </p:nvSpPr>
        <p:spPr>
          <a:xfrm>
            <a:off x="7790793" y="1301750"/>
            <a:ext cx="63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71009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DF20-6B0E-5FBE-648F-FC1C4EE6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 of PS filtering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C30DE-9BCA-4207-3D7B-DC9CEF45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24</a:t>
            </a:fld>
            <a:endParaRPr lang="en-US"/>
          </a:p>
        </p:txBody>
      </p:sp>
      <p:pic>
        <p:nvPicPr>
          <p:cNvPr id="7" name="mymovie_larger">
            <a:hlinkClick r:id="" action="ppaction://media"/>
            <a:extLst>
              <a:ext uri="{FF2B5EF4-FFF2-40B4-BE49-F238E27FC236}">
                <a16:creationId xmlns:a16="http://schemas.microsoft.com/office/drawing/2014/main" id="{2518CF97-022C-DAFB-5069-3657A5EA8BB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5338" y="1301750"/>
            <a:ext cx="8120062" cy="45672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BD035-B67A-025D-3911-6F7C50BF2B11}"/>
              </a:ext>
            </a:extLst>
          </p:cNvPr>
          <p:cNvSpPr txBox="1"/>
          <p:nvPr/>
        </p:nvSpPr>
        <p:spPr>
          <a:xfrm>
            <a:off x="3704896" y="1301750"/>
            <a:ext cx="79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61F49-55F2-4FC9-ADA8-630D33F0A55B}"/>
              </a:ext>
            </a:extLst>
          </p:cNvPr>
          <p:cNvSpPr txBox="1"/>
          <p:nvPr/>
        </p:nvSpPr>
        <p:spPr>
          <a:xfrm>
            <a:off x="7790793" y="1301750"/>
            <a:ext cx="63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16730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2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BF1C-3C6E-E154-55B8-C6664664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Steps in detail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F3EE-0797-7E21-B67B-FD2B2EDE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Kinematics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6FEB-5D1B-C49A-2535-8140455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25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94D83-8F05-962C-462C-6ED184B5F2E9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3F1FA8-89D7-6524-76A9-250EAD78E0AB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8A51E8-AEC8-9DA6-8790-E8406005B2A8}"/>
                </a:ext>
              </a:extLst>
            </p:cNvPr>
            <p:cNvGrpSpPr/>
            <p:nvPr/>
          </p:nvGrpSpPr>
          <p:grpSpPr>
            <a:xfrm>
              <a:off x="10393060" y="56482"/>
              <a:ext cx="1638844" cy="1539619"/>
              <a:chOff x="9455876" y="88013"/>
              <a:chExt cx="1638844" cy="1539619"/>
            </a:xfrm>
          </p:grpSpPr>
          <p:pic>
            <p:nvPicPr>
              <p:cNvPr id="25" name="Picture 24" descr="Diagram&#10;&#10;Description automatically generated">
                <a:extLst>
                  <a:ext uri="{FF2B5EF4-FFF2-40B4-BE49-F238E27FC236}">
                    <a16:creationId xmlns:a16="http://schemas.microsoft.com/office/drawing/2014/main" id="{475DDD2D-FCFE-5C49-E0A5-71BC1B92F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3FC59A8-A497-B668-93A3-0E22A68A1A2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7" name="Picture 26" descr="Diagram&#10;&#10;Description automatically generated">
                <a:extLst>
                  <a:ext uri="{FF2B5EF4-FFF2-40B4-BE49-F238E27FC236}">
                    <a16:creationId xmlns:a16="http://schemas.microsoft.com/office/drawing/2014/main" id="{0AA43921-F136-B234-805B-A9D13C7716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-4004" r="62324" b="48713"/>
              <a:stretch/>
            </p:blipFill>
            <p:spPr>
              <a:xfrm>
                <a:off x="9736071" y="88013"/>
                <a:ext cx="654269" cy="81850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018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videos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compress_session_cameras.py:</a:t>
            </a:r>
          </a:p>
          <a:p>
            <a:endParaRPr lang="en-US" dirty="0">
              <a:ea typeface="Fira Mono" panose="020B0509050000020004" pitchFamily="49" charset="0"/>
            </a:endParaRPr>
          </a:p>
          <a:p>
            <a:r>
              <a:rPr lang="en-US" dirty="0"/>
              <a:t>Uses FFMPEG to make videos from stored images.</a:t>
            </a:r>
          </a:p>
          <a:p>
            <a:r>
              <a:rPr lang="en-US" dirty="0"/>
              <a:t>Also copies over a log file with time stamps of each image.</a:t>
            </a:r>
          </a:p>
          <a:p>
            <a:endParaRPr lang="en-US" dirty="0"/>
          </a:p>
          <a:p>
            <a:r>
              <a:rPr lang="en-US" dirty="0"/>
              <a:t>Starting from 2023-03 the data is generated as videos.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D6B753-F11D-27A8-AAA8-D038112F4DED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84FD57-75D5-ED37-6F52-12B9FF20328C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B5B495-01FF-526A-A124-22A31EE7E69B}"/>
                </a:ext>
              </a:extLst>
            </p:cNvPr>
            <p:cNvGrpSpPr/>
            <p:nvPr/>
          </p:nvGrpSpPr>
          <p:grpSpPr>
            <a:xfrm>
              <a:off x="10393060" y="56482"/>
              <a:ext cx="1638844" cy="1539619"/>
              <a:chOff x="9455876" y="88013"/>
              <a:chExt cx="1638844" cy="1539619"/>
            </a:xfrm>
          </p:grpSpPr>
          <p:pic>
            <p:nvPicPr>
              <p:cNvPr id="20" name="Picture 19" descr="Diagram&#10;&#10;Description automatically generated">
                <a:extLst>
                  <a:ext uri="{FF2B5EF4-FFF2-40B4-BE49-F238E27FC236}">
                    <a16:creationId xmlns:a16="http://schemas.microsoft.com/office/drawing/2014/main" id="{BEA09C7D-BB65-10CB-646F-96FC9A0AC2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56A2D13-EC3F-201D-AE51-F2BE6A8A5AC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2" name="Picture 21" descr="Diagram&#10;&#10;Description automatically generated">
                <a:extLst>
                  <a:ext uri="{FF2B5EF4-FFF2-40B4-BE49-F238E27FC236}">
                    <a16:creationId xmlns:a16="http://schemas.microsoft.com/office/drawing/2014/main" id="{3F56E15F-0E20-1008-201A-A6F2F473A0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-4004" r="62324" b="80662"/>
              <a:stretch/>
            </p:blipFill>
            <p:spPr>
              <a:xfrm>
                <a:off x="9736071" y="88013"/>
                <a:ext cx="654269" cy="34553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6006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labelling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6454403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analyze_videos.py</a:t>
            </a:r>
          </a:p>
          <a:p>
            <a:r>
              <a:rPr lang="en-US" dirty="0"/>
              <a:t>Use a trained DeepLabCut network to estimate 2D positions of body landmarks on each frame on each camera.</a:t>
            </a:r>
          </a:p>
          <a:p>
            <a:r>
              <a:rPr lang="en-US" dirty="0"/>
              <a:t>Runs on GPU on a PC with properly-installed CUDA/</a:t>
            </a:r>
            <a:r>
              <a:rPr lang="en-US" dirty="0" err="1"/>
              <a:t>cudnn</a:t>
            </a:r>
            <a:endParaRPr lang="en-US" dirty="0"/>
          </a:p>
          <a:p>
            <a:r>
              <a:rPr lang="en-US" dirty="0"/>
              <a:t>Python 3.8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picture containing indoor&#10;&#10;Description automatically generated">
            <a:extLst>
              <a:ext uri="{FF2B5EF4-FFF2-40B4-BE49-F238E27FC236}">
                <a16:creationId xmlns:a16="http://schemas.microsoft.com/office/drawing/2014/main" id="{32316E41-3673-4A41-596D-687F8E6E5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337" y="3074040"/>
            <a:ext cx="5057242" cy="403516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AA7693E-ED17-BE4C-296B-6ABB9E0CFB81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C328DF-688D-7E2D-6183-07E8882BF33A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4DDD3F-1EF4-5AE4-0904-66B9668DDF67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20" name="Picture 19" descr="Diagram&#10;&#10;Description automatically generated">
                <a:extLst>
                  <a:ext uri="{FF2B5EF4-FFF2-40B4-BE49-F238E27FC236}">
                    <a16:creationId xmlns:a16="http://schemas.microsoft.com/office/drawing/2014/main" id="{D954AB3D-0CED-D0B7-13C3-CABF6D2D20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3C8292B-2B6F-7501-A267-BC5974F3A99B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2" name="Picture 21" descr="Diagram&#10;&#10;Description automatically generated">
                <a:extLst>
                  <a:ext uri="{FF2B5EF4-FFF2-40B4-BE49-F238E27FC236}">
                    <a16:creationId xmlns:a16="http://schemas.microsoft.com/office/drawing/2014/main" id="{62F45993-9C9C-7D03-B92C-AD8485BF45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7537" r="62324" b="70012"/>
              <a:stretch/>
            </p:blipFill>
            <p:spPr>
              <a:xfrm>
                <a:off x="9736071" y="258856"/>
                <a:ext cx="654269" cy="3323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72032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7392451" cy="4567830"/>
          </a:xfrm>
        </p:spPr>
        <p:txBody>
          <a:bodyPr/>
          <a:lstStyle/>
          <a:p>
            <a:r>
              <a:rPr lang="en-US" dirty="0"/>
              <a:t>Is required to transform 2D points on the frames (locations of landmarks) to 3D points in space.</a:t>
            </a:r>
          </a:p>
          <a:p>
            <a:endParaRPr lang="en-US" dirty="0"/>
          </a:p>
          <a:p>
            <a:r>
              <a:rPr lang="en-US" dirty="0"/>
              <a:t>Intrinsic calibration</a:t>
            </a:r>
          </a:p>
          <a:p>
            <a:r>
              <a:rPr lang="en-US" dirty="0"/>
              <a:t>Extrinsic calibration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28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BFC7F5-2D8B-571E-7D49-6AF3334556D5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EC5E15-BFF5-0698-EE98-C6D9A3ECF2B9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E9BD2A1-AB15-877B-C42E-AEDB9827C100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6" name="Picture 15" descr="Diagram&#10;&#10;Description automatically generated">
                <a:extLst>
                  <a:ext uri="{FF2B5EF4-FFF2-40B4-BE49-F238E27FC236}">
                    <a16:creationId xmlns:a16="http://schemas.microsoft.com/office/drawing/2014/main" id="{20C15726-27CE-138A-5893-E5DD9232BE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BDBA8C2-722F-DE65-8F22-9E211E398C0E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8" name="Picture 17" descr="Diagram&#10;&#10;Description automatically generated">
                <a:extLst>
                  <a:ext uri="{FF2B5EF4-FFF2-40B4-BE49-F238E27FC236}">
                    <a16:creationId xmlns:a16="http://schemas.microsoft.com/office/drawing/2014/main" id="{983DAC93-0E79-A5BF-94A0-6D16383F90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86068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calibration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10332720" cy="4567830"/>
          </a:xfrm>
        </p:spPr>
        <p:txBody>
          <a:bodyPr/>
          <a:lstStyle/>
          <a:p>
            <a:r>
              <a:rPr lang="en-US" dirty="0"/>
              <a:t>Corrects the effect of lens (focal length) on the image</a:t>
            </a:r>
          </a:p>
          <a:p>
            <a:r>
              <a:rPr lang="en-US" dirty="0"/>
              <a:t>Makes straight lines straight </a:t>
            </a:r>
          </a:p>
          <a:p>
            <a:r>
              <a:rPr lang="en-US" dirty="0"/>
              <a:t>Updated rarely: </a:t>
            </a:r>
          </a:p>
          <a:p>
            <a:pPr lvl="1"/>
            <a:r>
              <a:rPr lang="en-US" sz="2000" dirty="0">
                <a:hlinkClick r:id="rId3" action="ppaction://hlinkfile"/>
              </a:rPr>
              <a:t>\\BENSMAIA-LAB\LabSharing\Stereognosis\DeepLabCut\CameraConfigs</a:t>
            </a:r>
            <a:endParaRPr lang="en-US" sz="2000" dirty="0"/>
          </a:p>
          <a:p>
            <a:pPr lvl="1"/>
            <a:r>
              <a:rPr lang="en-US" dirty="0"/>
              <a:t>See Tutorial.rtf and </a:t>
            </a:r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CalibrateIndividualCameras.py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 descr="A black and white checkered pillow&#10;&#10;Description automatically generated with low confidence">
            <a:extLst>
              <a:ext uri="{FF2B5EF4-FFF2-40B4-BE49-F238E27FC236}">
                <a16:creationId xmlns:a16="http://schemas.microsoft.com/office/drawing/2014/main" id="{929D8A3D-8F3A-44A9-AB2B-5F09D7947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991" y="3700458"/>
            <a:ext cx="2739057" cy="3124452"/>
          </a:xfrm>
          <a:prstGeom prst="rect">
            <a:avLst/>
          </a:prstGeom>
        </p:spPr>
      </p:pic>
      <p:pic>
        <p:nvPicPr>
          <p:cNvPr id="8" name="Picture 7" descr="A picture containing text, indoor, black, checker&#10;&#10;Description automatically generated">
            <a:extLst>
              <a:ext uri="{FF2B5EF4-FFF2-40B4-BE49-F238E27FC236}">
                <a16:creationId xmlns:a16="http://schemas.microsoft.com/office/drawing/2014/main" id="{FEA3A1FF-6DE6-CC93-CCD9-502B358010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8" t="5491" r="18249"/>
          <a:stretch/>
        </p:blipFill>
        <p:spPr>
          <a:xfrm>
            <a:off x="6723992" y="3718592"/>
            <a:ext cx="2731883" cy="3139408"/>
          </a:xfrm>
          <a:prstGeom prst="rect">
            <a:avLst/>
          </a:prstGeom>
        </p:spPr>
      </p:pic>
      <p:pic>
        <p:nvPicPr>
          <p:cNvPr id="17" name="Picture 16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087C7674-A58B-541D-5CF4-F9715C5EEE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206" y="1672145"/>
            <a:ext cx="1254481" cy="125448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C5B841-B924-ED5F-AF40-4D8B029F1443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ECD412-DE01-4DFF-9661-C7350B1AC0D4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34EA7C2-B3B5-47FB-3C27-64BEDBB4A7FE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25" name="Picture 24" descr="Diagram&#10;&#10;Description automatically generated">
                <a:extLst>
                  <a:ext uri="{FF2B5EF4-FFF2-40B4-BE49-F238E27FC236}">
                    <a16:creationId xmlns:a16="http://schemas.microsoft.com/office/drawing/2014/main" id="{22E30A67-667A-A3B5-6FD6-E7F4AD18D9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8438801-F9B8-AA99-8B2A-639428099BF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7" name="Picture 26" descr="Diagram&#10;&#10;Description automatically generated">
                <a:extLst>
                  <a:ext uri="{FF2B5EF4-FFF2-40B4-BE49-F238E27FC236}">
                    <a16:creationId xmlns:a16="http://schemas.microsoft.com/office/drawing/2014/main" id="{7AE936FD-18FC-68FB-D190-76087AA2CC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AFF3F96-0175-EB20-4DCB-824AA6178C88}"/>
              </a:ext>
            </a:extLst>
          </p:cNvPr>
          <p:cNvSpPr/>
          <p:nvPr/>
        </p:nvSpPr>
        <p:spPr>
          <a:xfrm>
            <a:off x="5880538" y="5092262"/>
            <a:ext cx="642416" cy="29954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98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calibration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10332720" cy="4567830"/>
          </a:xfrm>
        </p:spPr>
        <p:txBody>
          <a:bodyPr/>
          <a:lstStyle/>
          <a:p>
            <a:r>
              <a:rPr lang="en-US" dirty="0"/>
              <a:t>Corrects the effect of lens (focal length) on the image</a:t>
            </a:r>
          </a:p>
          <a:p>
            <a:r>
              <a:rPr lang="en-US" dirty="0"/>
              <a:t>Makes straight lines straight </a:t>
            </a:r>
          </a:p>
          <a:p>
            <a:r>
              <a:rPr lang="en-US" dirty="0"/>
              <a:t>Updated rarely: </a:t>
            </a:r>
          </a:p>
          <a:p>
            <a:pPr lvl="1"/>
            <a:r>
              <a:rPr lang="en-US" sz="2000" dirty="0">
                <a:hlinkClick r:id="rId3" action="ppaction://hlinkfile"/>
              </a:rPr>
              <a:t>\\BENSMAIA-LAB\LabSharing\Stereognosis\DeepLabCut\CameraConfigs</a:t>
            </a:r>
            <a:endParaRPr lang="en-US" sz="2000" dirty="0"/>
          </a:p>
          <a:p>
            <a:pPr lvl="1"/>
            <a:r>
              <a:rPr lang="en-US" dirty="0"/>
              <a:t>See readme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30</a:t>
            </a:fld>
            <a:endParaRPr lang="en-US"/>
          </a:p>
        </p:txBody>
      </p:sp>
      <p:pic>
        <p:nvPicPr>
          <p:cNvPr id="3" name="Picture 2" descr="A black and white checkered pillow&#10;&#10;Description automatically generated with low confidence">
            <a:extLst>
              <a:ext uri="{FF2B5EF4-FFF2-40B4-BE49-F238E27FC236}">
                <a16:creationId xmlns:a16="http://schemas.microsoft.com/office/drawing/2014/main" id="{929D8A3D-8F3A-44A9-AB2B-5F09D7947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991" y="3700458"/>
            <a:ext cx="2739057" cy="3124452"/>
          </a:xfrm>
          <a:prstGeom prst="rect">
            <a:avLst/>
          </a:prstGeom>
        </p:spPr>
      </p:pic>
      <p:pic>
        <p:nvPicPr>
          <p:cNvPr id="8" name="Picture 7" descr="A picture containing text, indoor, black, checker&#10;&#10;Description automatically generated">
            <a:extLst>
              <a:ext uri="{FF2B5EF4-FFF2-40B4-BE49-F238E27FC236}">
                <a16:creationId xmlns:a16="http://schemas.microsoft.com/office/drawing/2014/main" id="{FEA3A1FF-6DE6-CC93-CCD9-502B358010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8" t="5491" r="18249"/>
          <a:stretch/>
        </p:blipFill>
        <p:spPr>
          <a:xfrm>
            <a:off x="6723992" y="3718592"/>
            <a:ext cx="2731883" cy="31394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E35017-B3CF-5AF6-5CD0-9FF537AD5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100" y="3585179"/>
            <a:ext cx="9119080" cy="3239731"/>
          </a:xfrm>
          <a:prstGeom prst="rect">
            <a:avLst/>
          </a:prstGeom>
        </p:spPr>
      </p:pic>
      <p:pic>
        <p:nvPicPr>
          <p:cNvPr id="7" name="Picture 6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285711AA-A9BE-615E-63E9-DA84E5AE51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206" y="1672145"/>
            <a:ext cx="1254481" cy="12544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17C79AB-4199-F62B-05E5-6293CBFA551D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81018E-AFF7-CEEF-77A0-37F91656E0B0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00494F6-7781-BAAD-E63E-E1F5220D9CB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21" name="Picture 20" descr="Diagram&#10;&#10;Description automatically generated">
                <a:extLst>
                  <a:ext uri="{FF2B5EF4-FFF2-40B4-BE49-F238E27FC236}">
                    <a16:creationId xmlns:a16="http://schemas.microsoft.com/office/drawing/2014/main" id="{4E0E37F9-33F4-7133-4B2F-D4EC415543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AFCF019-7E29-F2FB-85EA-E515ECB3435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3" name="Picture 22" descr="Diagram&#10;&#10;Description automatically generated">
                <a:extLst>
                  <a:ext uri="{FF2B5EF4-FFF2-40B4-BE49-F238E27FC236}">
                    <a16:creationId xmlns:a16="http://schemas.microsoft.com/office/drawing/2014/main" id="{0BD97254-56E8-68EC-F62E-D704BA26B6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36816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Extrinsic calibration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10332720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calibration.py</a:t>
            </a:r>
          </a:p>
          <a:p>
            <a:r>
              <a:rPr lang="en-US" sz="2400" dirty="0"/>
              <a:t>Finds the relative position and orientation of each camera</a:t>
            </a:r>
          </a:p>
          <a:p>
            <a:r>
              <a:rPr lang="en-US" sz="2400" dirty="0"/>
              <a:t>Done </a:t>
            </a:r>
            <a:r>
              <a:rPr lang="en-US" sz="2400" b="1" dirty="0"/>
              <a:t>every session </a:t>
            </a:r>
            <a:r>
              <a:rPr lang="en-US" sz="2400" dirty="0"/>
              <a:t>– cameras are pushed around</a:t>
            </a:r>
          </a:p>
          <a:p>
            <a:r>
              <a:rPr lang="en-US" sz="2400" dirty="0"/>
              <a:t>Also see </a:t>
            </a:r>
            <a:r>
              <a:rPr lang="en-US" sz="2000" dirty="0">
                <a:latin typeface="Fira Mono" panose="020B0509050000020004" pitchFamily="49" charset="0"/>
                <a:ea typeface="Fira Mono" panose="020B0509050000020004" pitchFamily="49" charset="0"/>
              </a:rPr>
              <a:t>LoadConfigAndCalibrate.py</a:t>
            </a:r>
          </a:p>
          <a:p>
            <a:r>
              <a:rPr lang="en-US" sz="2400" dirty="0">
                <a:ea typeface="Fira Mono" panose="020B0509050000020004" pitchFamily="49" charset="0"/>
              </a:rPr>
              <a:t>Run both elective command line flags for the first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A1AE0-E87D-4154-C43A-A969E32E01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707"/>
          <a:stretch/>
        </p:blipFill>
        <p:spPr>
          <a:xfrm>
            <a:off x="0" y="3784337"/>
            <a:ext cx="8019777" cy="14948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ECDA9E-4804-ADFE-E01B-590C6FA517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011" b="393"/>
          <a:stretch/>
        </p:blipFill>
        <p:spPr>
          <a:xfrm>
            <a:off x="0" y="5329755"/>
            <a:ext cx="8019779" cy="14319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B6C696-F5C2-948C-29BF-B7A53929E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779" y="2752654"/>
            <a:ext cx="4172221" cy="4072256"/>
          </a:xfrm>
          <a:prstGeom prst="rect">
            <a:avLst/>
          </a:prstGeom>
        </p:spPr>
      </p:pic>
      <p:pic>
        <p:nvPicPr>
          <p:cNvPr id="16" name="Picture 15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1679B817-7F30-E740-86EC-A0DCB0C2F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206" y="1672145"/>
            <a:ext cx="1254481" cy="125448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455BC82-0C39-86F8-9937-355C611C25F8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9A91CA-F647-D6B2-FB3D-D34930A991C4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B5A643B-4DF8-AC9E-CE0C-5BC659C6CBA7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24" name="Picture 23" descr="Diagram&#10;&#10;Description automatically generated">
                <a:extLst>
                  <a:ext uri="{FF2B5EF4-FFF2-40B4-BE49-F238E27FC236}">
                    <a16:creationId xmlns:a16="http://schemas.microsoft.com/office/drawing/2014/main" id="{5BAB720B-E6E0-70D4-3AF7-5019E4D36D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2CF060B-C2BC-F106-44A8-B81C2079BCBC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6" name="Picture 25" descr="Diagram&#10;&#10;Description automatically generated">
                <a:extLst>
                  <a:ext uri="{FF2B5EF4-FFF2-40B4-BE49-F238E27FC236}">
                    <a16:creationId xmlns:a16="http://schemas.microsoft.com/office/drawing/2014/main" id="{B8DCCA12-14A3-2480-50F7-D55F9C08E5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23330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8708872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triangulate.py</a:t>
            </a:r>
          </a:p>
          <a:p>
            <a:r>
              <a:rPr lang="en-US" dirty="0"/>
              <a:t>Transforms 2D marker positions into locations in 3D space.</a:t>
            </a:r>
          </a:p>
          <a:p>
            <a:r>
              <a:rPr lang="en-US" dirty="0"/>
              <a:t>Only 2D markers with likelihood &gt; threshold (0.4) are used.</a:t>
            </a:r>
          </a:p>
          <a:p>
            <a:r>
              <a:rPr lang="en-US" dirty="0"/>
              <a:t>Prepares inverse kinematic configuration files.</a:t>
            </a:r>
          </a:p>
          <a:p>
            <a:r>
              <a:rPr lang="en-US" dirty="0"/>
              <a:t>If the left hand was used, the markers are reflected across midline.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32</a:t>
            </a:fld>
            <a:endParaRPr lang="en-US"/>
          </a:p>
        </p:txBody>
      </p:sp>
      <p:pic>
        <p:nvPicPr>
          <p:cNvPr id="2" name="Picture 1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F8701D38-35B5-F264-C2EF-CE2344DEA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206" y="1672145"/>
            <a:ext cx="1254481" cy="125448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F9E50B-8BDB-489A-F976-DF79FEA61C84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324401-7713-5381-9BC8-28C0B6339196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0D53B70-CDE7-7DC3-6264-C33BB351E8A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7647C78A-6553-0AE5-CBC6-8D4CD29B1A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551EEA3-19A4-B807-F7C6-FC9DE30A883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Picture 18" descr="Diagram&#10;&#10;Description automatically generated">
                <a:extLst>
                  <a:ext uri="{FF2B5EF4-FFF2-40B4-BE49-F238E27FC236}">
                    <a16:creationId xmlns:a16="http://schemas.microsoft.com/office/drawing/2014/main" id="{3A64DFF9-7513-47F0-C2A6-E80EE48A0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74200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8708872" cy="4567830"/>
          </a:xfrm>
        </p:spPr>
        <p:txBody>
          <a:bodyPr/>
          <a:lstStyle/>
          <a:p>
            <a:r>
              <a:rPr lang="en-US" dirty="0"/>
              <a:t>Preview 3D markers in OpenSim – </a:t>
            </a:r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.</a:t>
            </a:r>
            <a:r>
              <a:rPr lang="en-US" sz="2400" dirty="0" err="1">
                <a:latin typeface="Fira Mono" panose="020B0509050000020004" pitchFamily="49" charset="0"/>
                <a:ea typeface="Fira Mono" panose="020B0509050000020004" pitchFamily="49" charset="0"/>
              </a:rPr>
              <a:t>trc</a:t>
            </a:r>
            <a:r>
              <a:rPr lang="en-US" dirty="0"/>
              <a:t> files.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33</a:t>
            </a:fld>
            <a:endParaRPr lang="en-US"/>
          </a:p>
        </p:txBody>
      </p:sp>
      <p:pic>
        <p:nvPicPr>
          <p:cNvPr id="2" name="Picture 1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F8701D38-35B5-F264-C2EF-CE2344DEA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206" y="1672145"/>
            <a:ext cx="1254481" cy="125448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F9E50B-8BDB-489A-F976-DF79FEA61C84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324401-7713-5381-9BC8-28C0B6339196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0D53B70-CDE7-7DC3-6264-C33BB351E8A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7647C78A-6553-0AE5-CBC6-8D4CD29B1A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551EEA3-19A4-B807-F7C6-FC9DE30A883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Picture 18" descr="Diagram&#10;&#10;Description automatically generated">
                <a:extLst>
                  <a:ext uri="{FF2B5EF4-FFF2-40B4-BE49-F238E27FC236}">
                    <a16:creationId xmlns:a16="http://schemas.microsoft.com/office/drawing/2014/main" id="{3A64DFF9-7513-47F0-C2A6-E80EE48A0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18805" r="62324" b="59895"/>
              <a:stretch/>
            </p:blipFill>
            <p:spPr>
              <a:xfrm>
                <a:off x="9736071" y="425669"/>
                <a:ext cx="654269" cy="315310"/>
              </a:xfrm>
              <a:prstGeom prst="rect">
                <a:avLst/>
              </a:prstGeom>
            </p:spPr>
          </p:pic>
        </p:grpSp>
      </p:grpSp>
      <p:pic>
        <p:nvPicPr>
          <p:cNvPr id="3" name="bandicam 2023-04-04 16-06-25-073">
            <a:hlinkClick r:id="" action="ppaction://media"/>
            <a:extLst>
              <a:ext uri="{FF2B5EF4-FFF2-40B4-BE49-F238E27FC236}">
                <a16:creationId xmlns:a16="http://schemas.microsoft.com/office/drawing/2014/main" id="{501865E3-9AFA-041C-9A29-A3EC255D6A8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48"/>
                </p14:media>
              </p:ext>
            </p:extLst>
          </p:nvPr>
        </p:nvPicPr>
        <p:blipFill rotWithShape="1">
          <a:blip r:embed="rId7"/>
          <a:srcRect l="10086" t="6911" r="14028" b="14621"/>
          <a:stretch>
            <a:fillRect/>
          </a:stretch>
        </p:blipFill>
        <p:spPr>
          <a:xfrm>
            <a:off x="3070334" y="1804096"/>
            <a:ext cx="6051332" cy="465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1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7A77-10B2-4E8D-D736-7EA536E2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kinematics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74B0-B217-54F2-2438-0B5AA293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positions of body landmarks in 3D space to joint angles between segments of a scaled skeletal model.</a:t>
            </a:r>
          </a:p>
          <a:p>
            <a:r>
              <a:rPr lang="en-US" dirty="0"/>
              <a:t>Optimization problem.</a:t>
            </a:r>
          </a:p>
          <a:p>
            <a:r>
              <a:rPr lang="en-US" dirty="0"/>
              <a:t>Find the posture of skeletal model so that the markers rigidly attached to it match their recorded positions in 3D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A77AE-576C-209F-CF42-FC8783A2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AF116F-9FD5-C470-9059-9FD79F388F26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FAA8E5-50A4-F765-748B-3FFDE965D723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8B54DF8-BB3B-9B82-53E6-97B97AD670F3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7934CE0D-0A1D-A0B5-C697-4F4CD35116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D519F5-CC75-87E7-5A89-EF97B515848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688DA7A5-24C7-B713-5721-AA7061941E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29455" r="62324" b="49777"/>
              <a:stretch/>
            </p:blipFill>
            <p:spPr>
              <a:xfrm>
                <a:off x="9736071" y="583324"/>
                <a:ext cx="654269" cy="307427"/>
              </a:xfrm>
              <a:prstGeom prst="rect">
                <a:avLst/>
              </a:prstGeom>
            </p:spPr>
          </p:pic>
        </p:grpSp>
      </p:grpSp>
      <p:pic>
        <p:nvPicPr>
          <p:cNvPr id="11" name="bandicam 2023-04-04 16-06-25-073">
            <a:hlinkClick r:id="" action="ppaction://media"/>
            <a:extLst>
              <a:ext uri="{FF2B5EF4-FFF2-40B4-BE49-F238E27FC236}">
                <a16:creationId xmlns:a16="http://schemas.microsoft.com/office/drawing/2014/main" id="{75FA4B72-940C-6BA4-B435-23B87231FC2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48"/>
                </p14:media>
              </p:ext>
            </p:extLst>
          </p:nvPr>
        </p:nvPicPr>
        <p:blipFill rotWithShape="1">
          <a:blip r:embed="rId6"/>
          <a:srcRect l="10086" t="6911" r="14028" b="14621"/>
          <a:stretch>
            <a:fillRect/>
          </a:stretch>
        </p:blipFill>
        <p:spPr>
          <a:xfrm>
            <a:off x="1332186" y="3984365"/>
            <a:ext cx="3217480" cy="247542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110CEBA-B334-BAEE-2290-EFD53E8A923D}"/>
              </a:ext>
            </a:extLst>
          </p:cNvPr>
          <p:cNvSpPr/>
          <p:nvPr/>
        </p:nvSpPr>
        <p:spPr>
          <a:xfrm>
            <a:off x="5626859" y="5072302"/>
            <a:ext cx="642416" cy="29954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bandicam 2023-04-04 16-36-01-333">
            <a:hlinkClick r:id="" action="ppaction://media"/>
            <a:extLst>
              <a:ext uri="{FF2B5EF4-FFF2-40B4-BE49-F238E27FC236}">
                <a16:creationId xmlns:a16="http://schemas.microsoft.com/office/drawing/2014/main" id="{DD6D4D86-99FB-B1B4-4D0F-147180BD2BB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st="753"/>
                </p14:media>
              </p:ext>
            </p:extLst>
          </p:nvPr>
        </p:nvPicPr>
        <p:blipFill rotWithShape="1">
          <a:blip r:embed="rId7"/>
          <a:srcRect l="10904" t="17485" r="4582" b="7501"/>
          <a:stretch>
            <a:fillRect/>
          </a:stretch>
        </p:blipFill>
        <p:spPr>
          <a:xfrm>
            <a:off x="7346469" y="3984365"/>
            <a:ext cx="3748251" cy="24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6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26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11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 position of thorax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9295778" cy="4567830"/>
          </a:xfrm>
        </p:spPr>
        <p:txBody>
          <a:bodyPr/>
          <a:lstStyle/>
          <a:p>
            <a:r>
              <a:rPr lang="en-US" dirty="0"/>
              <a:t>Monkey’s body (head) is fixed.</a:t>
            </a:r>
          </a:p>
          <a:p>
            <a:r>
              <a:rPr lang="en-US" dirty="0"/>
              <a:t>We mostly track distal landmarks – they can pull on the body.</a:t>
            </a:r>
          </a:p>
          <a:p>
            <a:r>
              <a:rPr lang="en-US" dirty="0"/>
              <a:t>The body should be fixed in space for the session.</a:t>
            </a:r>
          </a:p>
          <a:p>
            <a:endParaRPr lang="en-US" dirty="0"/>
          </a:p>
          <a:p>
            <a:r>
              <a:rPr lang="en-US" dirty="0"/>
              <a:t>If many markers on the torso are visible, use automatic estimation.</a:t>
            </a:r>
          </a:p>
          <a:p>
            <a:pPr lvl="1"/>
            <a:r>
              <a:rPr lang="en-US" dirty="0"/>
              <a:t>Mojito right hand</a:t>
            </a:r>
          </a:p>
          <a:p>
            <a:r>
              <a:rPr lang="en-US" dirty="0"/>
              <a:t>If not, manually mark each session.</a:t>
            </a:r>
          </a:p>
          <a:p>
            <a:pPr lvl="1"/>
            <a:r>
              <a:rPr lang="en-US" dirty="0"/>
              <a:t>Mojito left hand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F9E50B-8BDB-489A-F976-DF79FEA61C84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324401-7713-5381-9BC8-28C0B6339196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0D53B70-CDE7-7DC3-6264-C33BB351E8A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7647C78A-6553-0AE5-CBC6-8D4CD29B1A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551EEA3-19A4-B807-F7C6-FC9DE30A883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Picture 18" descr="Diagram&#10;&#10;Description automatically generated">
                <a:extLst>
                  <a:ext uri="{FF2B5EF4-FFF2-40B4-BE49-F238E27FC236}">
                    <a16:creationId xmlns:a16="http://schemas.microsoft.com/office/drawing/2014/main" id="{3A64DFF9-7513-47F0-C2A6-E80EE48A0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29455" r="62324" b="49777"/>
              <a:stretch/>
            </p:blipFill>
            <p:spPr>
              <a:xfrm>
                <a:off x="9736071" y="583324"/>
                <a:ext cx="654269" cy="30742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79333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 position of thorax: automatic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9295778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inverse_kinematics.py --base</a:t>
            </a:r>
          </a:p>
          <a:p>
            <a:r>
              <a:rPr lang="en-US" dirty="0"/>
              <a:t>Runs inverse kinematics only on the location/orientation of torso using positions of proximal landmarks.</a:t>
            </a:r>
          </a:p>
          <a:p>
            <a:endParaRPr lang="en-US" dirty="0"/>
          </a:p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find_static_thorax_position.py</a:t>
            </a:r>
          </a:p>
          <a:p>
            <a:r>
              <a:rPr lang="en-US" dirty="0"/>
              <a:t>Finds the median position of thorax and generates session-specific OpenSim model with thorax fixed in that posture.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F9E50B-8BDB-489A-F976-DF79FEA61C84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324401-7713-5381-9BC8-28C0B6339196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0D53B70-CDE7-7DC3-6264-C33BB351E8A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7647C78A-6553-0AE5-CBC6-8D4CD29B1A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551EEA3-19A4-B807-F7C6-FC9DE30A883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Picture 18" descr="Diagram&#10;&#10;Description automatically generated">
                <a:extLst>
                  <a:ext uri="{FF2B5EF4-FFF2-40B4-BE49-F238E27FC236}">
                    <a16:creationId xmlns:a16="http://schemas.microsoft.com/office/drawing/2014/main" id="{3A64DFF9-7513-47F0-C2A6-E80EE48A0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29455" r="62324" b="49777"/>
              <a:stretch/>
            </p:blipFill>
            <p:spPr>
              <a:xfrm>
                <a:off x="9736071" y="583324"/>
                <a:ext cx="654269" cy="30742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41359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6760C-49B1-21E3-181D-7F56F95F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 position of thorax: manual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831A-AAD6-B643-7DED-216466D1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9749396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mark_base.py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Asks to label several landmarks on the thorax from a random trial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Runs inverse kinematics on them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Generates session-specific OpenSim model with thorax fixed in that posture.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7702-ACE7-948E-D298-2A76A769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37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F9E50B-8BDB-489A-F976-DF79FEA61C84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324401-7713-5381-9BC8-28C0B6339196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0D53B70-CDE7-7DC3-6264-C33BB351E8AC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7647C78A-6553-0AE5-CBC6-8D4CD29B1A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551EEA3-19A4-B807-F7C6-FC9DE30A8836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Picture 18" descr="Diagram&#10;&#10;Description automatically generated">
                <a:extLst>
                  <a:ext uri="{FF2B5EF4-FFF2-40B4-BE49-F238E27FC236}">
                    <a16:creationId xmlns:a16="http://schemas.microsoft.com/office/drawing/2014/main" id="{3A64DFF9-7513-47F0-C2A6-E80EE48A0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29455" r="62324" b="49777"/>
              <a:stretch/>
            </p:blipFill>
            <p:spPr>
              <a:xfrm>
                <a:off x="9736071" y="583324"/>
                <a:ext cx="654269" cy="307427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0E75A3D-495A-21FB-117A-8F0BF6C6F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133" y="3221089"/>
            <a:ext cx="6813515" cy="360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51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7848-34E6-2B5F-1DA7-652A2B809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kinematics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99DF-A78C-9860-CAFA-2E054055C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inverse_kinematics.py</a:t>
            </a:r>
          </a:p>
          <a:p>
            <a:r>
              <a:rPr lang="en-US" dirty="0"/>
              <a:t>From positions of body landmarks in 3D space to joint angles between segments of a scaled skeletal model.</a:t>
            </a:r>
          </a:p>
          <a:p>
            <a:r>
              <a:rPr lang="en-US" dirty="0">
                <a:ea typeface="Fira Mono" panose="020B0509050000020004" pitchFamily="49" charset="0"/>
              </a:rPr>
              <a:t>Takes awhile to run – high precision.</a:t>
            </a:r>
          </a:p>
          <a:p>
            <a:r>
              <a:rPr lang="en-US" dirty="0">
                <a:ea typeface="Fira Mono" panose="020B0509050000020004" pitchFamily="49" charset="0"/>
              </a:rPr>
              <a:t>Fork of OpenSim – allows accuracy to be dropped if the target cannot be achieved.</a:t>
            </a:r>
          </a:p>
          <a:p>
            <a:endParaRPr lang="en-US" dirty="0">
              <a:ea typeface="Fira Mono" panose="020B050905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8B023-B290-B015-6E68-BC59BAD9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2522A3-4E1A-0EC7-8693-44B21D9B5AB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32179E-3AD6-A19A-8844-882182DDFA7F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5F5109-958E-3780-2AC5-82BFC5CA0632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E5A63002-FD90-A1FD-7A51-A6224C1BF1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F36C8D4-8BE5-CE39-D3A0-3316DFDF1C3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3AF77755-CD3E-50EA-5656-85330D4E8B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296" t="29455" r="62324" b="49777"/>
              <a:stretch/>
            </p:blipFill>
            <p:spPr>
              <a:xfrm>
                <a:off x="9736071" y="583324"/>
                <a:ext cx="654269" cy="30742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62029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BF1C-3C6E-E154-55B8-C6664664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Steps in detail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F3EE-0797-7E21-B67B-FD2B2EDE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Matching contact locations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6FEB-5D1B-C49A-2535-8140455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39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94D83-8F05-962C-462C-6ED184B5F2E9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3F1FA8-89D7-6524-76A9-250EAD78E0AB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8A51E8-AEC8-9DA6-8790-E8406005B2A8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25" name="Picture 24" descr="Diagram&#10;&#10;Description automatically generated">
                <a:extLst>
                  <a:ext uri="{FF2B5EF4-FFF2-40B4-BE49-F238E27FC236}">
                    <a16:creationId xmlns:a16="http://schemas.microsoft.com/office/drawing/2014/main" id="{475DDD2D-FCFE-5C49-E0A5-71BC1B92F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3FC59A8-A497-B668-93A3-0E22A68A1A2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7" name="Picture 26" descr="Diagram&#10;&#10;Description automatically generated">
                <a:extLst>
                  <a:ext uri="{FF2B5EF4-FFF2-40B4-BE49-F238E27FC236}">
                    <a16:creationId xmlns:a16="http://schemas.microsoft.com/office/drawing/2014/main" id="{0AA43921-F136-B234-805B-A9D13C7716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39573" r="33923" b="-2"/>
              <a:stretch/>
            </p:blipFill>
            <p:spPr>
              <a:xfrm>
                <a:off x="9455874" y="733097"/>
                <a:ext cx="1638841" cy="89453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88226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9426203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process_and_align_data.py</a:t>
            </a:r>
          </a:p>
          <a:p>
            <a:r>
              <a:rPr lang="en-US" dirty="0" err="1"/>
              <a:t>Downsamples</a:t>
            </a:r>
            <a:r>
              <a:rPr lang="en-US" dirty="0"/>
              <a:t> pressure sensors to the framerate of the cameras</a:t>
            </a:r>
          </a:p>
          <a:p>
            <a:r>
              <a:rPr lang="en-US" dirty="0"/>
              <a:t>Constrains time to period where both joint angles and pressure sensors are available</a:t>
            </a:r>
          </a:p>
          <a:p>
            <a:r>
              <a:rPr lang="en-US" dirty="0"/>
              <a:t>Filters pressure sensors</a:t>
            </a:r>
          </a:p>
          <a:p>
            <a:r>
              <a:rPr lang="en-US" dirty="0"/>
              <a:t>Filters joint angles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39573" r="33923" b="34764"/>
              <a:stretch/>
            </p:blipFill>
            <p:spPr>
              <a:xfrm>
                <a:off x="9455874" y="733098"/>
                <a:ext cx="1638841" cy="3798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05580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data – pressure sensors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10058400" cy="45678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300 fps with rare missing frames -&gt; 50 fps with nothing missing</a:t>
            </a:r>
          </a:p>
          <a:p>
            <a:r>
              <a:rPr lang="en-US" dirty="0"/>
              <a:t>Custom algorithm – median </a:t>
            </a:r>
            <a:r>
              <a:rPr lang="en-US" dirty="0" err="1"/>
              <a:t>downsample</a:t>
            </a:r>
            <a:endParaRPr lang="en-US" dirty="0"/>
          </a:p>
          <a:p>
            <a:r>
              <a:rPr lang="en-US" dirty="0"/>
              <a:t>Identify </a:t>
            </a:r>
            <a:r>
              <a:rPr lang="en-US" b="1" dirty="0"/>
              <a:t>active touch period </a:t>
            </a:r>
            <a:r>
              <a:rPr lang="en-US" dirty="0"/>
              <a:t>– from first grasp (&gt;5% total force) until release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39573" r="33923" b="34764"/>
              <a:stretch/>
            </p:blipFill>
            <p:spPr>
              <a:xfrm>
                <a:off x="9455874" y="733098"/>
                <a:ext cx="1638841" cy="3798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06695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data – joint angles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1264"/>
            <a:ext cx="10058400" cy="45678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2-order Butterworth low-pass filter at 20 Hz</a:t>
            </a:r>
          </a:p>
          <a:p>
            <a:r>
              <a:rPr lang="en-US" dirty="0"/>
              <a:t>Gaussian filter with 100 </a:t>
            </a:r>
            <a:r>
              <a:rPr lang="en-US" dirty="0" err="1"/>
              <a:t>ms</a:t>
            </a:r>
            <a:r>
              <a:rPr lang="en-US" dirty="0"/>
              <a:t> window</a:t>
            </a:r>
          </a:p>
          <a:p>
            <a:endParaRPr lang="en-US" dirty="0"/>
          </a:p>
          <a:p>
            <a:r>
              <a:rPr lang="en-US" dirty="0"/>
              <a:t>Pressure sensor location is fixed to median during </a:t>
            </a:r>
            <a:r>
              <a:rPr lang="en-US" b="1" dirty="0"/>
              <a:t>active touch period</a:t>
            </a:r>
          </a:p>
          <a:p>
            <a:r>
              <a:rPr lang="en-US" dirty="0"/>
              <a:t>Degrees -&gt; radians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39573" r="33923" b="34764"/>
              <a:stretch/>
            </p:blipFill>
            <p:spPr>
              <a:xfrm>
                <a:off x="9455874" y="733098"/>
                <a:ext cx="1638841" cy="3798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41464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MuJoCo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301264"/>
            <a:ext cx="6091797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prepare_mujoco_model.py</a:t>
            </a:r>
          </a:p>
          <a:p>
            <a:r>
              <a:rPr lang="en-US" dirty="0"/>
              <a:t>Finds all sensels that were active during a session:</a:t>
            </a:r>
          </a:p>
          <a:p>
            <a:pPr lvl="1"/>
            <a:r>
              <a:rPr lang="en-US" sz="2000" dirty="0">
                <a:latin typeface="Fira Mono" panose="020B0509050000020004" pitchFamily="49" charset="0"/>
                <a:ea typeface="Fira Mono" panose="020B0509050000020004" pitchFamily="49" charset="0"/>
              </a:rPr>
              <a:t>ps_left_sensor_mask.csv</a:t>
            </a:r>
          </a:p>
          <a:p>
            <a:pPr lvl="1"/>
            <a:r>
              <a:rPr lang="en-US" sz="2000" dirty="0">
                <a:latin typeface="Fira Mono" panose="020B0509050000020004" pitchFamily="49" charset="0"/>
                <a:ea typeface="Fira Mono" panose="020B0509050000020004" pitchFamily="49" charset="0"/>
              </a:rPr>
              <a:t>ps_right_sensor_mask.csv</a:t>
            </a:r>
          </a:p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Generates MuJoCo model from monkey-specific MuJoCo model and the masks</a:t>
            </a:r>
            <a:endParaRPr lang="en-US" sz="2000" dirty="0"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39573" r="33923" b="34764"/>
              <a:stretch/>
            </p:blipFill>
            <p:spPr>
              <a:xfrm>
                <a:off x="9455874" y="733098"/>
                <a:ext cx="1638841" cy="379888"/>
              </a:xfrm>
              <a:prstGeom prst="rect">
                <a:avLst/>
              </a:prstGeom>
            </p:spPr>
          </p:pic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EEA0AA2-1FEF-7BCA-84CE-3706CC0B2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86" y="1936374"/>
            <a:ext cx="4687614" cy="452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821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forces with segments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301264"/>
            <a:ext cx="9295779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automatically_match.py</a:t>
            </a:r>
          </a:p>
          <a:p>
            <a:r>
              <a:rPr lang="en-US" dirty="0"/>
              <a:t>Runs a compiled MuJoCo executable that goes through each frame of a trial and for each non-zero value of a sensel saves the closest hand segment (within 2.5 cm).</a:t>
            </a:r>
          </a:p>
          <a:p>
            <a:endParaRPr lang="en-US" dirty="0"/>
          </a:p>
          <a:p>
            <a:r>
              <a:rPr lang="en-US" dirty="0"/>
              <a:t>Raises an error if &gt; 10% of force has not been matched.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931" t="50757" r="33923" b="23222"/>
              <a:stretch/>
            </p:blipFill>
            <p:spPr>
              <a:xfrm>
                <a:off x="9751837" y="898633"/>
                <a:ext cx="1342878" cy="3851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92081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FC709-1E7F-30D6-8B30-4AFBFD3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forces with segments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D1AA-3820-4048-1821-DECD7EBD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301264"/>
            <a:ext cx="9295779" cy="4567830"/>
          </a:xfrm>
        </p:spPr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automatically_match.py</a:t>
            </a:r>
          </a:p>
          <a:p>
            <a:endParaRPr lang="en-US" dirty="0"/>
          </a:p>
          <a:p>
            <a:r>
              <a:rPr lang="en-US" dirty="0"/>
              <a:t>Matched contacts file: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E2F9-77EF-38F7-F82E-BC7FA65F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8F5F9-6D73-4C70-CA78-20362962E44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14FC0-A609-0F2E-045A-F09ABCF5BAF1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B2AFCD-D891-0014-70DA-A7BEE20D5263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14A366E2-2F59-0CC8-F5EF-A0AC0124F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7961ED-A43F-05BF-C9BB-2CF239E7862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DF932A1F-A899-06C7-9BFE-BD572C655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931" t="50757" r="33923" b="23222"/>
              <a:stretch/>
            </p:blipFill>
            <p:spPr>
              <a:xfrm>
                <a:off x="9751837" y="898633"/>
                <a:ext cx="1342878" cy="385193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4D8759-3DAD-2395-168A-C912CC84B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081" y="4108497"/>
            <a:ext cx="5896798" cy="895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9A5F3B-E3DC-7391-03B0-5EA64BE80966}"/>
              </a:ext>
            </a:extLst>
          </p:cNvPr>
          <p:cNvSpPr txBox="1"/>
          <p:nvPr/>
        </p:nvSpPr>
        <p:spPr>
          <a:xfrm>
            <a:off x="1986455" y="3244334"/>
            <a:ext cx="13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sensel index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C3A6C-DAF4-0556-80C0-2DDEB8263FBF}"/>
              </a:ext>
            </a:extLst>
          </p:cNvPr>
          <p:cNvSpPr txBox="1"/>
          <p:nvPr/>
        </p:nvSpPr>
        <p:spPr>
          <a:xfrm>
            <a:off x="3626069" y="3243375"/>
            <a:ext cx="2204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 geometry 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80A998-3EB6-FC55-357A-F58D1CF6DA48}"/>
              </a:ext>
            </a:extLst>
          </p:cNvPr>
          <p:cNvSpPr txBox="1"/>
          <p:nvPr/>
        </p:nvSpPr>
        <p:spPr>
          <a:xfrm>
            <a:off x="6126480" y="3243375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1E5AC0-C64C-58D7-913F-9E6D34ED79F3}"/>
              </a:ext>
            </a:extLst>
          </p:cNvPr>
          <p:cNvCxnSpPr>
            <a:stCxn id="13" idx="2"/>
          </p:cNvCxnSpPr>
          <p:nvPr/>
        </p:nvCxnSpPr>
        <p:spPr>
          <a:xfrm>
            <a:off x="2651734" y="3613666"/>
            <a:ext cx="1131990" cy="745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17D136-DA63-A4DB-6E74-5017B8E48968}"/>
              </a:ext>
            </a:extLst>
          </p:cNvPr>
          <p:cNvCxnSpPr>
            <a:stCxn id="14" idx="2"/>
          </p:cNvCxnSpPr>
          <p:nvPr/>
        </p:nvCxnSpPr>
        <p:spPr>
          <a:xfrm flipH="1">
            <a:off x="4401128" y="3612707"/>
            <a:ext cx="326974" cy="754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F6ACE6-5B58-D53C-5FD7-A8D0011F1493}"/>
              </a:ext>
            </a:extLst>
          </p:cNvPr>
          <p:cNvCxnSpPr>
            <a:stCxn id="15" idx="2"/>
          </p:cNvCxnSpPr>
          <p:nvPr/>
        </p:nvCxnSpPr>
        <p:spPr>
          <a:xfrm flipH="1">
            <a:off x="5171090" y="3612707"/>
            <a:ext cx="1438568" cy="746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6646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2A6E-41D3-0490-80CA-655EC5BC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total digit forces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516F-C82D-C8BB-867A-3F212BDB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export_digit_forces.py</a:t>
            </a:r>
          </a:p>
          <a:p>
            <a:r>
              <a:rPr lang="en-US" dirty="0"/>
              <a:t>Takes the filtered sensors (300 Hz) and matched contacts structure to produce the forces exerted by a digit at the highest rate.</a:t>
            </a:r>
          </a:p>
          <a:p>
            <a:r>
              <a:rPr lang="en-US" dirty="0"/>
              <a:t>If a sensor is missing a frame, the previous one is used.</a:t>
            </a:r>
          </a:p>
          <a:p>
            <a:r>
              <a:rPr lang="en-US" dirty="0"/>
              <a:t>At each pressure sensor time point, matching contacts information from the nearest joint angle time point is used, akin to nearest-neighbor filtering.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05DB-CCAB-3E13-AAD4-E75F392A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C6F93D-FE15-95BF-C3D9-8C4F71A2B6AF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B1EA72-223F-1945-75D4-1C0673B3821D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2C76E2-75E3-7A27-ECD2-1CFCD67B8B55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77BF4744-AC06-AE2E-4BFC-030ECEFD45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5FCF877-1EF0-C702-2745-33CA81DC159B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39DD563E-EF21-E6A9-1934-F38FAD63BA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7" t="65238" r="33923" b="-3"/>
              <a:stretch/>
            </p:blipFill>
            <p:spPr>
              <a:xfrm>
                <a:off x="9546885" y="1112985"/>
                <a:ext cx="1547830" cy="514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5828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2A6E-41D3-0490-80CA-655EC5BC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total digit forces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516F-C82D-C8BB-867A-3F212BDB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export_digit_forces.py</a:t>
            </a:r>
          </a:p>
          <a:p>
            <a:r>
              <a:rPr lang="en-US" dirty="0"/>
              <a:t>Same is done for each digit segment.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05DB-CCAB-3E13-AAD4-E75F392A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C6F93D-FE15-95BF-C3D9-8C4F71A2B6AF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B1EA72-223F-1945-75D4-1C0673B3821D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2C76E2-75E3-7A27-ECD2-1CFCD67B8B55}"/>
                </a:ext>
              </a:extLst>
            </p:cNvPr>
            <p:cNvGrpSpPr/>
            <p:nvPr/>
          </p:nvGrpSpPr>
          <p:grpSpPr>
            <a:xfrm>
              <a:off x="10393060" y="115760"/>
              <a:ext cx="1638844" cy="1480341"/>
              <a:chOff x="9455876" y="147291"/>
              <a:chExt cx="1638844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77BF4744-AC06-AE2E-4BFC-030ECEFD45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5FCF877-1EF0-C702-2745-33CA81DC159B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39DD563E-EF21-E6A9-1934-F38FAD63BA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7" t="65238" r="33923" b="-3"/>
              <a:stretch/>
            </p:blipFill>
            <p:spPr>
              <a:xfrm>
                <a:off x="9546885" y="1112985"/>
                <a:ext cx="1547830" cy="514646"/>
              </a:xfrm>
              <a:prstGeom prst="rect">
                <a:avLst/>
              </a:prstGeom>
            </p:spPr>
          </p:pic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0C5B328-FF37-D89F-C19A-FC6C3DE0F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79" y="3228073"/>
            <a:ext cx="3388082" cy="6690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9EDD07-A85E-BAD7-F169-037F425F90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508"/>
          <a:stretch/>
        </p:blipFill>
        <p:spPr>
          <a:xfrm>
            <a:off x="267780" y="4131767"/>
            <a:ext cx="3319462" cy="11776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3C7354-A70E-0C76-0F88-8CCC18C9C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773" y="3240089"/>
            <a:ext cx="12192000" cy="6448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063BC3-E877-B0A4-34AE-76115631C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773" y="4131768"/>
            <a:ext cx="12192000" cy="11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51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8CA2-6C53-F654-BEC7-00A5036D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0E85-8C0A-46AD-9059-B707A600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inspect_object_endpoints.py</a:t>
            </a:r>
          </a:p>
          <a:p>
            <a:pPr lvl="1"/>
            <a:r>
              <a:rPr lang="en-US" sz="2400" dirty="0"/>
              <a:t>shows variability in the locations of thorax (base body) and pressure sensors during grasp.</a:t>
            </a:r>
          </a:p>
          <a:p>
            <a:r>
              <a:rPr lang="en-US" dirty="0"/>
              <a:t>Manual adjustment of sensor location – not used anymore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find_optimal_frames.py</a:t>
            </a:r>
          </a:p>
          <a:p>
            <a:pPr lvl="1"/>
            <a:r>
              <a:rPr lang="en-US" sz="2400" dirty="0">
                <a:latin typeface="Fira Mono" panose="020B0509050000020004" pitchFamily="49" charset="0"/>
                <a:ea typeface="Fira Mono" panose="020B0509050000020004" pitchFamily="49" charset="0"/>
              </a:rPr>
              <a:t>make_adjustment.py</a:t>
            </a:r>
          </a:p>
          <a:p>
            <a:endParaRPr lang="en-US" sz="2400" dirty="0">
              <a:ea typeface="Fira Mono" panose="020B0509050000020004" pitchFamily="49" charset="0"/>
            </a:endParaRPr>
          </a:p>
          <a:p>
            <a:r>
              <a:rPr lang="en-US" dirty="0">
                <a:ea typeface="Fira Mono" panose="020B0509050000020004" pitchFamily="49" charset="0"/>
              </a:rPr>
              <a:t>Most functions have </a:t>
            </a:r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--</a:t>
            </a:r>
            <a:r>
              <a:rPr lang="en-US" dirty="0" err="1">
                <a:latin typeface="Fira Mono" panose="020B0509050000020004" pitchFamily="49" charset="0"/>
                <a:ea typeface="Fira Mono" panose="020B0509050000020004" pitchFamily="49" charset="0"/>
              </a:rPr>
              <a:t>make_plots</a:t>
            </a:r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 </a:t>
            </a:r>
            <a:r>
              <a:rPr lang="en-US" dirty="0">
                <a:ea typeface="Fira Mono" panose="020B0509050000020004" pitchFamily="49" charset="0"/>
              </a:rPr>
              <a:t>argument to provide some diagnostic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E4599-9CEB-18A2-E3A8-3CE793E5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41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BF1C-3C6E-E154-55B8-C6664664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F3EE-0797-7E21-B67B-FD2B2EDE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Matched segment-digit pairs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6FEB-5D1B-C49A-2535-8140455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49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94D83-8F05-962C-462C-6ED184B5F2E9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3F1FA8-89D7-6524-76A9-250EAD78E0AB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8A51E8-AEC8-9DA6-8790-E8406005B2A8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25" name="Picture 24" descr="Diagram&#10;&#10;Description automatically generated">
                <a:extLst>
                  <a:ext uri="{FF2B5EF4-FFF2-40B4-BE49-F238E27FC236}">
                    <a16:creationId xmlns:a16="http://schemas.microsoft.com/office/drawing/2014/main" id="{475DDD2D-FCFE-5C49-E0A5-71BC1B92F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3FC59A8-A497-B668-93A3-0E22A68A1A2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7" name="Picture 26" descr="Diagram&#10;&#10;Description automatically generated">
                <a:extLst>
                  <a:ext uri="{FF2B5EF4-FFF2-40B4-BE49-F238E27FC236}">
                    <a16:creationId xmlns:a16="http://schemas.microsoft.com/office/drawing/2014/main" id="{0AA43921-F136-B234-805B-A9D13C7716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01595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D1BE-06A8-9FA3-104D-AA272FB2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force labelling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F29E-438B-9161-1AC8-B3C99A667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compare_masked_forces.py --</a:t>
            </a:r>
            <a:r>
              <a:rPr lang="en-US" dirty="0" err="1">
                <a:latin typeface="Fira Mono" panose="020B0509050000020004" pitchFamily="49" charset="0"/>
                <a:ea typeface="Fira Mono" panose="020B0509050000020004" pitchFamily="49" charset="0"/>
              </a:rPr>
              <a:t>find_good</a:t>
            </a:r>
            <a:endParaRPr lang="en-US" dirty="0"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r>
              <a:rPr lang="en-US" dirty="0">
                <a:ea typeface="Fira Mono" panose="020B0509050000020004" pitchFamily="49" charset="0"/>
              </a:rPr>
              <a:t>Prints out lists of trials that were successful and had only a single grasp marked in manual log as good candidates for manual labeling and validation.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52EB-01EE-5E03-6742-CF513A1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088D74-C504-A92E-1E39-43866C2D5DBA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7859DE-C140-49EA-AFE1-486FE17635EF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7795780-EB87-4D57-5FAF-8A46547675D4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72C142AD-F7B1-2C3F-B01D-0D2FACE294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816D041-A669-6BF6-9032-64C8EC1C4012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63DB6838-CF3A-C63B-2E85-0BF3C5039E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56544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A317A7-6362-D41F-149D-BBF7E150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force labelling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D8AB8DE-280D-2FEF-712C-64960FE65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972" y="1334967"/>
            <a:ext cx="10242498" cy="552316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1C42D-FE94-2A0E-EBE3-250C94F6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2CA55A-CD69-2D37-72F2-9843A2374461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400E9F-62C2-B56B-313A-A5F9132CB965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562C782-A1D9-EE1B-AF73-74606EA369AA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0D51E367-D8D8-0B83-2F39-3007C6AD05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E6EB659-3BC8-28E7-747B-11B8A2F58525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7C542423-57BD-6A39-9907-D552DEA9CE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6618E0C-5F6D-F593-01A2-C2FABAE27AA7}"/>
              </a:ext>
            </a:extLst>
          </p:cNvPr>
          <p:cNvSpPr txBox="1"/>
          <p:nvPr/>
        </p:nvSpPr>
        <p:spPr>
          <a:xfrm>
            <a:off x="1300655" y="1327715"/>
            <a:ext cx="3954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view from two selected cameras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8B0F9-D0F2-545E-CAF6-345FC9E07180}"/>
              </a:ext>
            </a:extLst>
          </p:cNvPr>
          <p:cNvSpPr txBox="1"/>
          <p:nvPr/>
        </p:nvSpPr>
        <p:spPr>
          <a:xfrm>
            <a:off x="1181197" y="5129831"/>
            <a:ext cx="2003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manually selected finger area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9C512-6D3F-0553-4EDC-9F5A12E150B9}"/>
              </a:ext>
            </a:extLst>
          </p:cNvPr>
          <p:cNvSpPr txBox="1"/>
          <p:nvPr/>
        </p:nvSpPr>
        <p:spPr>
          <a:xfrm>
            <a:off x="8442434" y="4726293"/>
            <a:ext cx="260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frame (moveable)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5D0497-0E5A-FD1A-ABBF-BF12A62BE709}"/>
              </a:ext>
            </a:extLst>
          </p:cNvPr>
          <p:cNvCxnSpPr/>
          <p:nvPr/>
        </p:nvCxnSpPr>
        <p:spPr>
          <a:xfrm flipH="1">
            <a:off x="8284405" y="4934608"/>
            <a:ext cx="158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B2C10-6C44-DF58-5DF7-C29EDE018464}"/>
              </a:ext>
            </a:extLst>
          </p:cNvPr>
          <p:cNvSpPr txBox="1"/>
          <p:nvPr/>
        </p:nvSpPr>
        <p:spPr>
          <a:xfrm>
            <a:off x="7212723" y="1411435"/>
            <a:ext cx="29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over the whole trial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6D30A8-40D9-2A55-8133-40CDB825A232}"/>
              </a:ext>
            </a:extLst>
          </p:cNvPr>
          <p:cNvSpPr txBox="1"/>
          <p:nvPr/>
        </p:nvSpPr>
        <p:spPr>
          <a:xfrm>
            <a:off x="8363419" y="5929437"/>
            <a:ext cx="273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already assigned digit force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8EDB17-29C4-1D5D-BA3E-8C854634A69C}"/>
              </a:ext>
            </a:extLst>
          </p:cNvPr>
          <p:cNvSpPr txBox="1"/>
          <p:nvPr/>
        </p:nvSpPr>
        <p:spPr>
          <a:xfrm>
            <a:off x="9732511" y="2155777"/>
            <a:ext cx="204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if clicked, moves to the time with highest activity on the pixel</a:t>
            </a:r>
          </a:p>
        </p:txBody>
      </p:sp>
    </p:spTree>
    <p:extLst>
      <p:ext uri="{BB962C8B-B14F-4D97-AF65-F5344CB8AC3E}">
        <p14:creationId xmlns:p14="http://schemas.microsoft.com/office/powerpoint/2010/main" val="26541798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0501-6354-C66B-E285-CD6BE3FF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to compare against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EC396-D324-8574-55DE-2E3984AA3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5E88-64B2-D81B-263D-7A481082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9157A-EA80-162B-BBBB-B9CAC30A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91" y="1145011"/>
            <a:ext cx="10250905" cy="571298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4F35D9C-ED7E-4FD0-0322-5D9E1F97EFB7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EA9E2-9F82-CB4A-574F-23122C63D90E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3067078-055C-069E-6D73-325148CE3416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9DAC59A5-DDF9-E5FC-1F9E-6B1A108956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1C6D16A-ECBE-6B10-EBB1-1BEDB071C134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 descr="Diagram&#10;&#10;Description automatically generated">
                <a:extLst>
                  <a:ext uri="{FF2B5EF4-FFF2-40B4-BE49-F238E27FC236}">
                    <a16:creationId xmlns:a16="http://schemas.microsoft.com/office/drawing/2014/main" id="{55E0E0D4-14B9-6A83-B75E-3938904713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D00BB0D-8A87-1806-EB4F-56E80AAF84B5}"/>
              </a:ext>
            </a:extLst>
          </p:cNvPr>
          <p:cNvSpPr txBox="1"/>
          <p:nvPr/>
        </p:nvSpPr>
        <p:spPr>
          <a:xfrm>
            <a:off x="2609687" y="5372070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automatically-matched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E2522-3162-528E-3293-B3D31CFE89DB}"/>
              </a:ext>
            </a:extLst>
          </p:cNvPr>
          <p:cNvSpPr txBox="1"/>
          <p:nvPr/>
        </p:nvSpPr>
        <p:spPr>
          <a:xfrm>
            <a:off x="7772394" y="5002738"/>
            <a:ext cx="3101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automatically-matched profiles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CC539-411D-3309-EF1D-DF3DE14C8E1A}"/>
              </a:ext>
            </a:extLst>
          </p:cNvPr>
          <p:cNvSpPr txBox="1"/>
          <p:nvPr/>
        </p:nvSpPr>
        <p:spPr>
          <a:xfrm>
            <a:off x="7772394" y="5994215"/>
            <a:ext cx="2994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in matched profiles</a:t>
            </a:r>
          </a:p>
        </p:txBody>
      </p:sp>
    </p:spTree>
    <p:extLst>
      <p:ext uri="{BB962C8B-B14F-4D97-AF65-F5344CB8AC3E}">
        <p14:creationId xmlns:p14="http://schemas.microsoft.com/office/powerpoint/2010/main" val="41419943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D1BE-06A8-9FA3-104D-AA272FB2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F29E-438B-9161-1AC8-B3C99A667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compare_masked_forces.py</a:t>
            </a:r>
          </a:p>
          <a:p>
            <a:r>
              <a:rPr lang="en-US" dirty="0">
                <a:ea typeface="Fira Mono" panose="020B0509050000020004" pitchFamily="49" charset="0"/>
              </a:rPr>
              <a:t>Finds the sensels that were misattributed to a different digit.</a:t>
            </a:r>
          </a:p>
          <a:p>
            <a:r>
              <a:rPr lang="en-US" dirty="0">
                <a:ea typeface="Fira Mono" panose="020B0509050000020004" pitchFamily="49" charset="0"/>
              </a:rPr>
              <a:t>Prints a detailed report and figures.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52EB-01EE-5E03-6742-CF513A1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AA1E4-ECEC-6340-A252-C2913709DBAD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D6B099-C80B-34FE-22D8-1815F59D5E09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358971-DC9A-2BF7-FC72-D57F236C3B47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F1D6149E-0977-5A0B-2884-CC8EA3B15B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26DEF7-AD3F-DC96-018A-CA378693E0FC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9D986C27-005E-D955-5B64-2A50411CFD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054142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D1BE-06A8-9FA3-104D-AA272FB2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52EB-01EE-5E03-6742-CF513A1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AA1E4-ECEC-6340-A252-C2913709DBAD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D6B099-C80B-34FE-22D8-1815F59D5E09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358971-DC9A-2BF7-FC72-D57F236C3B47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F1D6149E-0977-5A0B-2884-CC8EA3B15B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26DEF7-AD3F-DC96-018A-CA378693E0FC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9D986C27-005E-D955-5B64-2A50411CFD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69C361-A2F5-EFB1-7C69-ED08FF203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B2F97B-264C-5AEF-B0D8-AC31359E2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52" y="0"/>
            <a:ext cx="8338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551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D1BE-06A8-9FA3-104D-AA272FB2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52EB-01EE-5E03-6742-CF513A1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AA1E4-ECEC-6340-A252-C2913709DBAD}"/>
              </a:ext>
            </a:extLst>
          </p:cNvPr>
          <p:cNvGrpSpPr/>
          <p:nvPr/>
        </p:nvGrpSpPr>
        <p:grpSpPr>
          <a:xfrm>
            <a:off x="10310648" y="33090"/>
            <a:ext cx="1805152" cy="1622289"/>
            <a:chOff x="10310648" y="33090"/>
            <a:chExt cx="1805152" cy="1622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D6B099-C80B-34FE-22D8-1815F59D5E09}"/>
                </a:ext>
              </a:extLst>
            </p:cNvPr>
            <p:cNvSpPr/>
            <p:nvPr/>
          </p:nvSpPr>
          <p:spPr>
            <a:xfrm>
              <a:off x="10310648" y="33090"/>
              <a:ext cx="1805152" cy="1622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358971-DC9A-2BF7-FC72-D57F236C3B47}"/>
                </a:ext>
              </a:extLst>
            </p:cNvPr>
            <p:cNvGrpSpPr/>
            <p:nvPr/>
          </p:nvGrpSpPr>
          <p:grpSpPr>
            <a:xfrm>
              <a:off x="10393058" y="115760"/>
              <a:ext cx="1638846" cy="1480341"/>
              <a:chOff x="9455874" y="147291"/>
              <a:chExt cx="1638846" cy="1480341"/>
            </a:xfrm>
          </p:grpSpPr>
          <p:pic>
            <p:nvPicPr>
              <p:cNvPr id="8" name="Picture 7" descr="Diagram&#10;&#10;Description automatically generated">
                <a:extLst>
                  <a:ext uri="{FF2B5EF4-FFF2-40B4-BE49-F238E27FC236}">
                    <a16:creationId xmlns:a16="http://schemas.microsoft.com/office/drawing/2014/main" id="{F1D6149E-0977-5A0B-2884-CC8EA3B15B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923"/>
              <a:stretch/>
            </p:blipFill>
            <p:spPr>
              <a:xfrm>
                <a:off x="9455878" y="147291"/>
                <a:ext cx="1638842" cy="1480341"/>
              </a:xfrm>
              <a:prstGeom prst="rect">
                <a:avLst/>
              </a:prstGeom>
              <a:noFill/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26DEF7-AD3F-DC96-018A-CA378693E0FC}"/>
                  </a:ext>
                </a:extLst>
              </p:cNvPr>
              <p:cNvSpPr/>
              <p:nvPr/>
            </p:nvSpPr>
            <p:spPr>
              <a:xfrm>
                <a:off x="9455876" y="147292"/>
                <a:ext cx="1638842" cy="1480340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 descr="Diagram&#10;&#10;Description automatically generated">
                <a:extLst>
                  <a:ext uri="{FF2B5EF4-FFF2-40B4-BE49-F238E27FC236}">
                    <a16:creationId xmlns:a16="http://schemas.microsoft.com/office/drawing/2014/main" id="{9D986C27-005E-D955-5B64-2A50411CFD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" t="63536" r="33923" b="22576"/>
              <a:stretch/>
            </p:blipFill>
            <p:spPr>
              <a:xfrm>
                <a:off x="9455874" y="1087820"/>
                <a:ext cx="1638841" cy="205583"/>
              </a:xfrm>
              <a:prstGeom prst="rect">
                <a:avLst/>
              </a:prstGeom>
            </p:spPr>
          </p:pic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20FB43F-032C-BDB3-E50C-269FF5319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553" y="1252296"/>
            <a:ext cx="8412221" cy="489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022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0E07-338B-A0AA-2A13-D97A0292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9B07-E29A-AEF4-0AC0-FBCCF5D7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Mono" panose="020B0509050000020004" pitchFamily="49" charset="0"/>
                <a:ea typeface="Fira Mono" panose="020B0509050000020004" pitchFamily="49" charset="0"/>
              </a:rPr>
              <a:t>compare_digit_forces.py</a:t>
            </a:r>
          </a:p>
          <a:p>
            <a:pPr lvl="1"/>
            <a:r>
              <a:rPr lang="en-US" dirty="0"/>
              <a:t>Compares the forces directly – way more metrics and will always show higher match.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49DEC-C9F9-A93A-2088-E1EDF835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510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92A3ED-1CA5-4611-48F7-F65E51412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5316" y="758952"/>
            <a:ext cx="8420363" cy="3566160"/>
          </a:xfrm>
        </p:spPr>
        <p:txBody>
          <a:bodyPr/>
          <a:lstStyle/>
          <a:p>
            <a:r>
              <a:rPr lang="en-US" dirty="0"/>
              <a:t>FIN.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C1948FE-A461-4F43-3643-D249EE189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7DBF-3DFD-2DB0-C554-C4963A0B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58F1-B7C0-4515-BC48-347F171F4B6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9740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93CC2880-9FCA-40D3-8282-785345DB6B79}" vid="{26190225-12D9-4DF2-B3D9-B934435A33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27699</TotalTime>
  <Words>1922</Words>
  <Application>Microsoft Office PowerPoint</Application>
  <PresentationFormat>Widescreen</PresentationFormat>
  <Paragraphs>347</Paragraphs>
  <Slides>57</Slides>
  <Notes>11</Notes>
  <HiddenSlides>1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Calibri</vt:lpstr>
      <vt:lpstr>Calibri Light</vt:lpstr>
      <vt:lpstr>Fira Mono</vt:lpstr>
      <vt:lpstr>Theme2</vt:lpstr>
      <vt:lpstr>Prehension data organization</vt:lpstr>
      <vt:lpstr>Overview</vt:lpstr>
      <vt:lpstr>Overview – major functions</vt:lpstr>
      <vt:lpstr>Overview – folder structure</vt:lpstr>
      <vt:lpstr>Major notes – languages</vt:lpstr>
      <vt:lpstr>Required code/packages</vt:lpstr>
      <vt:lpstr>Required code/packages</vt:lpstr>
      <vt:lpstr>Major notes – presets</vt:lpstr>
      <vt:lpstr>preset.py</vt:lpstr>
      <vt:lpstr>Major notes – other cmd arguments</vt:lpstr>
      <vt:lpstr>Major notes – other cmd arguments</vt:lpstr>
      <vt:lpstr>Steps in detail</vt:lpstr>
      <vt:lpstr>Parsing meta information</vt:lpstr>
      <vt:lpstr>meta_structure.json</vt:lpstr>
      <vt:lpstr>meta_dof.csv</vt:lpstr>
      <vt:lpstr>meta_object.csv</vt:lpstr>
      <vt:lpstr>meta_session.csv</vt:lpstr>
      <vt:lpstr>Additional scripts</vt:lpstr>
      <vt:lpstr>Steps in detail</vt:lpstr>
      <vt:lpstr>Extract data from TekScan format</vt:lpstr>
      <vt:lpstr>Timed Sparce Matrix format</vt:lpstr>
      <vt:lpstr>Filter pressure sensors</vt:lpstr>
      <vt:lpstr>Animation of PS filtering effects</vt:lpstr>
      <vt:lpstr>Animation of PS filtering effects</vt:lpstr>
      <vt:lpstr>Steps in detail</vt:lpstr>
      <vt:lpstr>Make videos</vt:lpstr>
      <vt:lpstr>Automatic labelling</vt:lpstr>
      <vt:lpstr>Calibration</vt:lpstr>
      <vt:lpstr>Intrinsic calibration</vt:lpstr>
      <vt:lpstr>Intrinsic calibration</vt:lpstr>
      <vt:lpstr>Extrinsic calibration</vt:lpstr>
      <vt:lpstr>Triangulation</vt:lpstr>
      <vt:lpstr>Triangulation</vt:lpstr>
      <vt:lpstr>Inverse kinematics</vt:lpstr>
      <vt:lpstr>Estimate position of thorax</vt:lpstr>
      <vt:lpstr>Estimate position of thorax: automatic</vt:lpstr>
      <vt:lpstr>Estimate position of thorax: manual</vt:lpstr>
      <vt:lpstr>Inverse kinematics</vt:lpstr>
      <vt:lpstr>Steps in detail</vt:lpstr>
      <vt:lpstr>Aligning data</vt:lpstr>
      <vt:lpstr>Aligning data – pressure sensors</vt:lpstr>
      <vt:lpstr>Aligning data – joint angles</vt:lpstr>
      <vt:lpstr>Prepare MuJoCo model</vt:lpstr>
      <vt:lpstr>Match the forces with segments</vt:lpstr>
      <vt:lpstr>Match the forces with segments</vt:lpstr>
      <vt:lpstr>Export total digit forces</vt:lpstr>
      <vt:lpstr>Export total digit forces</vt:lpstr>
      <vt:lpstr>Associated functions</vt:lpstr>
      <vt:lpstr>Validation</vt:lpstr>
      <vt:lpstr>Manual force labelling</vt:lpstr>
      <vt:lpstr>Manual force labelling</vt:lpstr>
      <vt:lpstr>Option to compare against automatic</vt:lpstr>
      <vt:lpstr>Comparison</vt:lpstr>
      <vt:lpstr>Report</vt:lpstr>
      <vt:lpstr>Comparison</vt:lpstr>
      <vt:lpstr>Associated functions</vt:lpstr>
      <vt:lpstr>FIN.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Doctoral dissertation proposal: Description of motor control using internal models based on musculoskeletal dynamics for advanced neuroprosthetics</dc:title>
  <dc:creator>an.sobinov@gmail.com</dc:creator>
  <cp:lastModifiedBy>Anton S</cp:lastModifiedBy>
  <cp:revision>887</cp:revision>
  <dcterms:created xsi:type="dcterms:W3CDTF">2017-07-10T18:46:49Z</dcterms:created>
  <dcterms:modified xsi:type="dcterms:W3CDTF">2023-04-11T21:27:10Z</dcterms:modified>
</cp:coreProperties>
</file>